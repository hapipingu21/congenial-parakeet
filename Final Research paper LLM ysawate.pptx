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59" r:id="rId6"/>
    <p:sldId id="261" r:id="rId7"/>
    <p:sldId id="266" r:id="rId8"/>
    <p:sldId id="276" r:id="rId9"/>
    <p:sldId id="277" r:id="rId10"/>
    <p:sldId id="273" r:id="rId11"/>
    <p:sldId id="268" r:id="rId12"/>
    <p:sldId id="267" r:id="rId13"/>
    <p:sldId id="269" r:id="rId14"/>
    <p:sldId id="275" r:id="rId15"/>
    <p:sldId id="270" r:id="rId16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>
          <p15:clr>
            <a:srgbClr val="A4A3A4"/>
          </p15:clr>
        </p15:guide>
        <p15:guide id="2" pos="3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68B5"/>
    <a:srgbClr val="0168B3"/>
    <a:srgbClr val="01F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75" autoAdjust="0"/>
  </p:normalViewPr>
  <p:slideViewPr>
    <p:cSldViewPr>
      <p:cViewPr varScale="1">
        <p:scale>
          <a:sx n="81" d="100"/>
          <a:sy n="81" d="100"/>
        </p:scale>
        <p:origin x="1526" y="48"/>
      </p:cViewPr>
      <p:guideLst>
        <p:guide orient="horz" pos="845"/>
        <p:guide pos="3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>
      <p:cViewPr varScale="1">
        <p:scale>
          <a:sx n="101" d="100"/>
          <a:sy n="101" d="100"/>
        </p:scale>
        <p:origin x="-357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C3B195-51BB-4523-B420-41DEEEFBD90B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F0ACE-5D3D-460E-A5B9-5427BB2FCC3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4547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0" y="4794250"/>
            <a:ext cx="9144000" cy="2063750"/>
          </a:xfrm>
          <a:prstGeom prst="rect">
            <a:avLst/>
          </a:prstGeom>
          <a:solidFill>
            <a:srgbClr val="0068B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15922" y="2290230"/>
            <a:ext cx="8308800" cy="1643595"/>
          </a:xfrm>
          <a:prstGeom prst="rect">
            <a:avLst/>
          </a:prstGeom>
        </p:spPr>
        <p:txBody>
          <a:bodyPr anchor="b"/>
          <a:lstStyle>
            <a:lvl1pPr algn="l">
              <a:defRPr sz="4000" spc="-100" baseline="0">
                <a:latin typeface="Lucida Sans Unicode" pitchFamily="34" charset="0"/>
                <a:cs typeface="Lucida Sans Unicode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15922" y="3931310"/>
            <a:ext cx="8308800" cy="51708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pc="-100" baseline="0">
                <a:solidFill>
                  <a:schemeClr val="tx1"/>
                </a:solidFill>
                <a:latin typeface="Lucida Sans Unicode" pitchFamily="34" charset="0"/>
                <a:cs typeface="Lucida Sans Unicode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06" y="692696"/>
            <a:ext cx="8003588" cy="901276"/>
          </a:xfrm>
          <a:prstGeom prst="rect">
            <a:avLst/>
          </a:prstGeom>
        </p:spPr>
      </p:pic>
      <p:sp>
        <p:nvSpPr>
          <p:cNvPr id="6" name="Rectangle 10"/>
          <p:cNvSpPr>
            <a:spLocks noChangeArrowheads="1"/>
          </p:cNvSpPr>
          <p:nvPr userDrawn="1"/>
        </p:nvSpPr>
        <p:spPr bwMode="auto">
          <a:xfrm>
            <a:off x="0" y="4794250"/>
            <a:ext cx="9144000" cy="2063750"/>
          </a:xfrm>
          <a:prstGeom prst="rect">
            <a:avLst/>
          </a:prstGeom>
          <a:solidFill>
            <a:srgbClr val="0068B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>
              <a:cs typeface="+mn-cs"/>
            </a:endParaRPr>
          </a:p>
        </p:txBody>
      </p:sp>
      <p:sp>
        <p:nvSpPr>
          <p:cNvPr id="7" name="Rectangle 10"/>
          <p:cNvSpPr>
            <a:spLocks noChangeArrowheads="1"/>
          </p:cNvSpPr>
          <p:nvPr userDrawn="1"/>
        </p:nvSpPr>
        <p:spPr bwMode="auto">
          <a:xfrm>
            <a:off x="0" y="4794250"/>
            <a:ext cx="9144000" cy="2063750"/>
          </a:xfrm>
          <a:prstGeom prst="rect">
            <a:avLst/>
          </a:prstGeom>
          <a:solidFill>
            <a:srgbClr val="0068B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>
              <a:cs typeface="+mn-cs"/>
            </a:endParaRPr>
          </a:p>
        </p:txBody>
      </p:sp>
      <p:sp>
        <p:nvSpPr>
          <p:cNvPr id="8" name="Line 3"/>
          <p:cNvSpPr>
            <a:spLocks noChangeShapeType="1"/>
          </p:cNvSpPr>
          <p:nvPr userDrawn="1"/>
        </p:nvSpPr>
        <p:spPr bwMode="black">
          <a:xfrm flipH="1" flipV="1">
            <a:off x="4502372" y="4794249"/>
            <a:ext cx="4763" cy="14430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9" name="Rectangle 19"/>
          <p:cNvSpPr>
            <a:spLocks noChangeArrowheads="1"/>
          </p:cNvSpPr>
          <p:nvPr userDrawn="1"/>
        </p:nvSpPr>
        <p:spPr bwMode="black">
          <a:xfrm>
            <a:off x="328834" y="5276899"/>
            <a:ext cx="4173538" cy="38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288" rIns="90000" bIns="18288" anchor="b"/>
          <a:lstStyle/>
          <a:p>
            <a:pPr marL="342900" indent="-342900" algn="r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de-DE" sz="1050" dirty="0">
                <a:solidFill>
                  <a:schemeClr val="bg1"/>
                </a:solidFill>
                <a:latin typeface="Frutiger Linotype" pitchFamily="34" charset="0"/>
                <a:cs typeface="Arial" charset="0"/>
              </a:rPr>
              <a:t>Fakultät für Informatik</a:t>
            </a:r>
          </a:p>
          <a:p>
            <a:pPr marL="342900" indent="-342900" algn="r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de-DE" sz="1050" dirty="0">
                <a:solidFill>
                  <a:schemeClr val="bg1"/>
                </a:solidFill>
                <a:latin typeface="Frutiger Linotype" pitchFamily="34" charset="0"/>
                <a:cs typeface="Arial" charset="0"/>
              </a:rPr>
              <a:t>Institut für Technische und Betriebliche Informationssysteme</a:t>
            </a:r>
          </a:p>
        </p:txBody>
      </p:sp>
      <p:sp>
        <p:nvSpPr>
          <p:cNvPr id="11" name="Rectangle 19"/>
          <p:cNvSpPr>
            <a:spLocks noChangeArrowheads="1"/>
          </p:cNvSpPr>
          <p:nvPr userDrawn="1"/>
        </p:nvSpPr>
        <p:spPr bwMode="black">
          <a:xfrm>
            <a:off x="328834" y="4794249"/>
            <a:ext cx="4173538" cy="408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288" rIns="90000" bIns="18288" anchor="b"/>
          <a:lstStyle/>
          <a:p>
            <a:pPr marL="342900" indent="-342900"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de-DE" sz="1200" b="1" dirty="0">
                <a:solidFill>
                  <a:schemeClr val="bg1"/>
                </a:solidFill>
                <a:latin typeface="Frutiger Linotype" pitchFamily="34" charset="0"/>
                <a:cs typeface="Arial" charset="0"/>
              </a:rPr>
              <a:t>Magdeburg Research </a:t>
            </a:r>
            <a:r>
              <a:rPr lang="de-DE" sz="1200" b="1" dirty="0" err="1">
                <a:solidFill>
                  <a:schemeClr val="bg1"/>
                </a:solidFill>
                <a:latin typeface="Frutiger Linotype" pitchFamily="34" charset="0"/>
                <a:cs typeface="Arial" charset="0"/>
              </a:rPr>
              <a:t>and</a:t>
            </a:r>
            <a:r>
              <a:rPr lang="de-DE" sz="1200" b="1" dirty="0">
                <a:solidFill>
                  <a:schemeClr val="bg1"/>
                </a:solidFill>
                <a:latin typeface="Frutiger Linotype" pitchFamily="34" charset="0"/>
                <a:cs typeface="Arial" charset="0"/>
              </a:rPr>
              <a:t> Competence Cluster</a:t>
            </a:r>
          </a:p>
          <a:p>
            <a:pPr marL="342900" indent="-342900"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de-DE" sz="1200" b="0" baseline="0" dirty="0">
                <a:solidFill>
                  <a:schemeClr val="bg1"/>
                </a:solidFill>
                <a:latin typeface="Frutiger Linotype" pitchFamily="34" charset="0"/>
                <a:cs typeface="Arial" charset="0"/>
              </a:rPr>
              <a:t>Arbeitsgruppe Wirtschaftsinformatik I</a:t>
            </a:r>
          </a:p>
        </p:txBody>
      </p:sp>
      <p:sp>
        <p:nvSpPr>
          <p:cNvPr id="12" name="Rectangle 19"/>
          <p:cNvSpPr>
            <a:spLocks noChangeArrowheads="1"/>
          </p:cNvSpPr>
          <p:nvPr userDrawn="1"/>
        </p:nvSpPr>
        <p:spPr bwMode="black">
          <a:xfrm>
            <a:off x="326304" y="5810250"/>
            <a:ext cx="4173538" cy="225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288" rIns="90000" bIns="18288" anchor="b"/>
          <a:lstStyle/>
          <a:p>
            <a:pPr marL="342900" indent="-342900" algn="r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de-DE" sz="1050" dirty="0">
                <a:solidFill>
                  <a:schemeClr val="bg1"/>
                </a:solidFill>
                <a:latin typeface="Frutiger Linotype" pitchFamily="34" charset="0"/>
                <a:cs typeface="Arial" charset="0"/>
              </a:rPr>
              <a:t>Otto-von-Guericke-Universität Magdeburg</a:t>
            </a:r>
          </a:p>
        </p:txBody>
      </p:sp>
      <p:sp>
        <p:nvSpPr>
          <p:cNvPr id="13" name="Rectangle 19"/>
          <p:cNvSpPr>
            <a:spLocks noChangeArrowheads="1"/>
          </p:cNvSpPr>
          <p:nvPr userDrawn="1"/>
        </p:nvSpPr>
        <p:spPr bwMode="black">
          <a:xfrm>
            <a:off x="4963102" y="4797152"/>
            <a:ext cx="4173538" cy="718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288" rIns="90000" bIns="18288" anchor="t"/>
          <a:lstStyle/>
          <a:p>
            <a:pPr marL="342900" indent="-342900"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de-DE" sz="1200" b="1" dirty="0">
                <a:solidFill>
                  <a:schemeClr val="bg1"/>
                </a:solidFill>
                <a:latin typeface="Frutiger Linotype" pitchFamily="34" charset="0"/>
                <a:cs typeface="Arial" charset="0"/>
              </a:rPr>
              <a:t>Name</a:t>
            </a:r>
          </a:p>
          <a:p>
            <a:pPr marL="342900" indent="-342900"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de-DE" sz="1050" b="0" dirty="0">
              <a:solidFill>
                <a:schemeClr val="bg1"/>
              </a:solidFill>
              <a:latin typeface="Frutiger Linotype" pitchFamily="34" charset="0"/>
              <a:cs typeface="Arial" charset="0"/>
            </a:endParaRPr>
          </a:p>
          <a:p>
            <a:pPr marL="342900" indent="-342900"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de-DE" sz="1050" b="0" dirty="0">
                <a:solidFill>
                  <a:schemeClr val="bg1"/>
                </a:solidFill>
                <a:latin typeface="Frutiger Linotype" pitchFamily="34" charset="0"/>
                <a:cs typeface="Arial" charset="0"/>
              </a:rPr>
              <a:t>E-Mail</a:t>
            </a:r>
          </a:p>
          <a:p>
            <a:pPr marL="342900" indent="-342900"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de-DE" sz="1050" b="0" dirty="0">
                <a:solidFill>
                  <a:schemeClr val="bg1"/>
                </a:solidFill>
                <a:latin typeface="Frutiger Linotype" pitchFamily="34" charset="0"/>
                <a:cs typeface="Arial" charset="0"/>
              </a:rPr>
              <a:t>http://mrcc.ovgu.de/agwi/home/</a:t>
            </a:r>
          </a:p>
        </p:txBody>
      </p:sp>
      <p:sp>
        <p:nvSpPr>
          <p:cNvPr id="14" name="Rectangle 19"/>
          <p:cNvSpPr>
            <a:spLocks noChangeArrowheads="1"/>
          </p:cNvSpPr>
          <p:nvPr userDrawn="1"/>
        </p:nvSpPr>
        <p:spPr bwMode="black">
          <a:xfrm>
            <a:off x="4956608" y="5661248"/>
            <a:ext cx="4173538" cy="332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288" rIns="90000" bIns="18288" anchor="t"/>
          <a:lstStyle/>
          <a:p>
            <a:pPr marL="342900" indent="-342900"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de-DE" sz="1050" b="0" dirty="0">
                <a:solidFill>
                  <a:schemeClr val="bg1"/>
                </a:solidFill>
                <a:latin typeface="Frutiger Linotype" pitchFamily="34" charset="0"/>
                <a:cs typeface="Arial" charset="0"/>
              </a:rPr>
              <a:t>05.11.2012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3399" y="764844"/>
            <a:ext cx="8215313" cy="561813"/>
          </a:xfrm>
          <a:prstGeom prst="rect">
            <a:avLst/>
          </a:prstGeom>
        </p:spPr>
        <p:txBody>
          <a:bodyPr/>
          <a:lstStyle>
            <a:lvl1pPr algn="l">
              <a:defRPr sz="2400" b="1" spc="-100" baseline="0">
                <a:latin typeface="Lucida Sans Unicode" pitchFamily="34" charset="0"/>
                <a:cs typeface="Lucida Sans Unicode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33399" y="1408113"/>
            <a:ext cx="8215313" cy="4900612"/>
          </a:xfrm>
          <a:prstGeom prst="rect">
            <a:avLst/>
          </a:prstGeom>
        </p:spPr>
        <p:txBody>
          <a:bodyPr/>
          <a:lstStyle>
            <a:lvl1pPr marL="360000" indent="-270000">
              <a:spcBef>
                <a:spcPts val="1800"/>
              </a:spcBef>
              <a:buFont typeface="Wingdings" pitchFamily="2" charset="2"/>
              <a:buChar char="§"/>
              <a:defRPr sz="2200" spc="-100" baseline="0">
                <a:solidFill>
                  <a:schemeClr val="tx1"/>
                </a:solidFill>
                <a:latin typeface="Lucida Sans Unicode" pitchFamily="34" charset="0"/>
                <a:cs typeface="Lucida Sans Unicode" pitchFamily="34" charset="0"/>
              </a:defRPr>
            </a:lvl1pPr>
            <a:lvl2pPr marL="630238" indent="-271463">
              <a:spcBef>
                <a:spcPts val="0"/>
              </a:spcBef>
              <a:buFont typeface="Courier New" pitchFamily="49" charset="0"/>
              <a:buChar char="o"/>
              <a:defRPr spc="-100" baseline="0">
                <a:latin typeface="Lucida Sans Unicode" pitchFamily="34" charset="0"/>
                <a:cs typeface="Lucida Sans Unicode" pitchFamily="34" charset="0"/>
              </a:defRPr>
            </a:lvl2pPr>
            <a:lvl3pPr marL="900000" indent="-270000">
              <a:spcBef>
                <a:spcPts val="0"/>
              </a:spcBef>
              <a:buFont typeface="Symbol" pitchFamily="18" charset="2"/>
              <a:buChar char="-"/>
              <a:defRPr sz="1800" spc="-100" baseline="0">
                <a:latin typeface="Lucida Sans Unicode" pitchFamily="34" charset="0"/>
                <a:cs typeface="Lucida Sans Unicode" pitchFamily="34" charset="0"/>
              </a:defRPr>
            </a:lvl3pPr>
            <a:lvl4pPr marL="1170000" indent="-270000">
              <a:spcBef>
                <a:spcPts val="0"/>
              </a:spcBef>
              <a:buFont typeface="Arial" pitchFamily="34" charset="0"/>
              <a:buChar char="•"/>
              <a:defRPr sz="1600" spc="-100" baseline="0">
                <a:latin typeface="Lucida Sans Unicode" pitchFamily="34" charset="0"/>
                <a:cs typeface="Lucida Sans Unicode" pitchFamily="34" charset="0"/>
              </a:defRPr>
            </a:lvl4pPr>
            <a:lvl5pPr marL="1440000" indent="-270000">
              <a:spcBef>
                <a:spcPts val="0"/>
              </a:spcBef>
              <a:defRPr sz="1400" spc="-100" baseline="0">
                <a:latin typeface="Lucida Sans Unicode" pitchFamily="34" charset="0"/>
                <a:cs typeface="Lucida Sans Unicode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3400" y="764844"/>
            <a:ext cx="8154000" cy="561813"/>
          </a:xfrm>
          <a:prstGeom prst="rect">
            <a:avLst/>
          </a:prstGeom>
        </p:spPr>
        <p:txBody>
          <a:bodyPr/>
          <a:lstStyle>
            <a:lvl1pPr algn="l">
              <a:defRPr sz="2400" b="1" spc="-100" baseline="0">
                <a:latin typeface="Lucida Sans Unicode" pitchFamily="34" charset="0"/>
                <a:cs typeface="Lucida Sans Unicode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Zwischen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04825" y="2293383"/>
            <a:ext cx="7829550" cy="1031875"/>
          </a:xfrm>
          <a:prstGeom prst="rect">
            <a:avLst/>
          </a:prstGeom>
        </p:spPr>
        <p:txBody>
          <a:bodyPr/>
          <a:lstStyle>
            <a:lvl1pPr algn="l">
              <a:defRPr spc="-100" baseline="0">
                <a:latin typeface="Lucida Sans Unicode" pitchFamily="34" charset="0"/>
                <a:cs typeface="Lucida Sans Unicode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el, Text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27088" y="44450"/>
            <a:ext cx="8316912" cy="979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827088" y="1125538"/>
            <a:ext cx="4027487" cy="54276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5006975" y="1125538"/>
            <a:ext cx="4029075" cy="26368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5006975" y="3914775"/>
            <a:ext cx="4029075" cy="26384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3978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el und Inhalt üb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27088" y="44450"/>
            <a:ext cx="8316912" cy="979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27088" y="1125538"/>
            <a:ext cx="8208962" cy="26368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27088" y="3914775"/>
            <a:ext cx="8208962" cy="26384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0881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el, Inhalt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27088" y="44450"/>
            <a:ext cx="8316912" cy="979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27088" y="1125538"/>
            <a:ext cx="4027487" cy="54276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5006975" y="1125538"/>
            <a:ext cx="4029075" cy="54276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7623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el und Text üb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27088" y="44450"/>
            <a:ext cx="8316912" cy="979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827088" y="1125538"/>
            <a:ext cx="8208962" cy="26368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27088" y="3914775"/>
            <a:ext cx="8208962" cy="26384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96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27088" y="44450"/>
            <a:ext cx="8316912" cy="979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827088" y="1125538"/>
            <a:ext cx="8208962" cy="54276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table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6936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6481" y="273629"/>
            <a:ext cx="8226720" cy="1143480"/>
          </a:xfrm>
          <a:prstGeom prst="rect">
            <a:avLst/>
          </a:prstGeom>
        </p:spPr>
        <p:txBody>
          <a:bodyPr lIns="82945" tIns="41473" rIns="82945" bIns="41473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0"/>
          </p:nvPr>
        </p:nvSpPr>
        <p:spPr>
          <a:xfrm>
            <a:off x="456481" y="6247376"/>
            <a:ext cx="2128320" cy="470930"/>
          </a:xfrm>
          <a:prstGeom prst="rect">
            <a:avLst/>
          </a:prstGeom>
        </p:spPr>
        <p:txBody>
          <a:bodyPr lIns="82945" tIns="41473" rIns="82945" bIns="41473"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idx="11"/>
          </p:nvPr>
        </p:nvSpPr>
        <p:spPr>
          <a:xfrm>
            <a:off x="3127680" y="6247376"/>
            <a:ext cx="2897280" cy="470930"/>
          </a:xfrm>
          <a:prstGeom prst="rect">
            <a:avLst/>
          </a:prstGeom>
        </p:spPr>
        <p:txBody>
          <a:bodyPr lIns="82945" tIns="41473" rIns="82945" bIns="41473"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idx="12"/>
          </p:nvPr>
        </p:nvSpPr>
        <p:spPr>
          <a:xfrm>
            <a:off x="6556321" y="6247376"/>
            <a:ext cx="2128320" cy="470930"/>
          </a:xfrm>
          <a:prstGeom prst="rect">
            <a:avLst/>
          </a:prstGeom>
        </p:spPr>
        <p:txBody>
          <a:bodyPr lIns="82945" tIns="41473" rIns="82945" bIns="41473"/>
          <a:lstStyle>
            <a:lvl1pPr>
              <a:defRPr/>
            </a:lvl1pPr>
          </a:lstStyle>
          <a:p>
            <a:fld id="{1CB73913-99E8-4FC7-A210-7D9B6ECCC19C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4067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690719" y="2"/>
            <a:ext cx="454025" cy="174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50800" bIns="0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  <a:defRPr/>
            </a:pPr>
            <a:fld id="{14250F2A-FD75-C648-9881-23847D42C43D}" type="slidenum">
              <a:rPr lang="de-DE" sz="800" b="1">
                <a:solidFill>
                  <a:schemeClr val="tx1"/>
                </a:solidFill>
                <a:latin typeface="Lucida Sans Unicode"/>
                <a:ea typeface="ヒラギノ角ゴ Pro W3" pitchFamily="-111" charset="-128"/>
                <a:cs typeface="ヒラギノ角ゴ Pro W3" pitchFamily="-111" charset="-128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de-DE" dirty="0">
              <a:solidFill>
                <a:schemeClr val="tx1"/>
              </a:solidFill>
              <a:latin typeface="Lucida Sans Unicode"/>
              <a:ea typeface="ヒラギノ角ゴ Pro W3" pitchFamily="-111" charset="-128"/>
              <a:cs typeface="ヒラギノ角ゴ Pro W3" pitchFamily="-111" charset="-128"/>
            </a:endParaRPr>
          </a:p>
        </p:txBody>
      </p:sp>
      <p:sp>
        <p:nvSpPr>
          <p:cNvPr id="11" name="Text Box 47"/>
          <p:cNvSpPr txBox="1">
            <a:spLocks noChangeArrowheads="1"/>
          </p:cNvSpPr>
          <p:nvPr/>
        </p:nvSpPr>
        <p:spPr bwMode="auto">
          <a:xfrm>
            <a:off x="7956376" y="0"/>
            <a:ext cx="734342" cy="17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50800" bIns="0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de-DE" sz="800" b="1" dirty="0">
                <a:solidFill>
                  <a:schemeClr val="tx1"/>
                </a:solidFill>
                <a:latin typeface="Lucida Sans Unicode"/>
                <a:ea typeface="ヒラギノ角ゴ Pro W3" pitchFamily="-111" charset="-128"/>
                <a:cs typeface="ヒラギノ角ゴ Pro W3" pitchFamily="-111" charset="-128"/>
              </a:rPr>
              <a:t>Semester</a:t>
            </a:r>
            <a:endParaRPr lang="de-DE" dirty="0">
              <a:solidFill>
                <a:schemeClr val="tx1"/>
              </a:solidFill>
              <a:latin typeface="Lucida Sans Unicode"/>
              <a:ea typeface="ヒラギノ角ゴ Pro W3" pitchFamily="-111" charset="-128"/>
              <a:cs typeface="ヒラギノ角ゴ Pro W3" pitchFamily="-111" charset="-128"/>
            </a:endParaRPr>
          </a:p>
        </p:txBody>
      </p:sp>
      <p:sp>
        <p:nvSpPr>
          <p:cNvPr id="12" name="Text Box 48"/>
          <p:cNvSpPr txBox="1">
            <a:spLocks noChangeArrowheads="1"/>
          </p:cNvSpPr>
          <p:nvPr/>
        </p:nvSpPr>
        <p:spPr bwMode="auto">
          <a:xfrm>
            <a:off x="5868144" y="2"/>
            <a:ext cx="2016224" cy="174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50800" rIns="0" bIns="0">
            <a:prstTxWarp prst="textNoShape">
              <a:avLst/>
            </a:prstTxWarp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de-DE" sz="800" dirty="0">
                <a:solidFill>
                  <a:schemeClr val="tx1"/>
                </a:solidFill>
                <a:latin typeface="Lucida Sans Unicode"/>
                <a:ea typeface="ヒラギノ角ゴ Pro W3" pitchFamily="-111" charset="-128"/>
                <a:cs typeface="ヒラギノ角ゴ Pro W3" pitchFamily="-111" charset="-128"/>
              </a:rPr>
              <a:t>Vorlesung</a:t>
            </a:r>
          </a:p>
        </p:txBody>
      </p:sp>
      <p:sp>
        <p:nvSpPr>
          <p:cNvPr id="13" name="Line 46"/>
          <p:cNvSpPr>
            <a:spLocks noChangeShapeType="1"/>
          </p:cNvSpPr>
          <p:nvPr/>
        </p:nvSpPr>
        <p:spPr bwMode="auto">
          <a:xfrm>
            <a:off x="8690719" y="36240"/>
            <a:ext cx="0" cy="152400"/>
          </a:xfrm>
          <a:prstGeom prst="line">
            <a:avLst/>
          </a:prstGeom>
          <a:noFill/>
          <a:ln w="12700">
            <a:solidFill>
              <a:srgbClr val="0168B3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de-DE" dirty="0">
              <a:latin typeface="Lucida Sans Unicode"/>
              <a:ea typeface="ヒラギノ角ゴ Pro W3" pitchFamily="-111" charset="-128"/>
              <a:cs typeface="ヒラギノ角ゴ Pro W3" pitchFamily="-111" charset="-128"/>
            </a:endParaRPr>
          </a:p>
        </p:txBody>
      </p:sp>
      <p:sp>
        <p:nvSpPr>
          <p:cNvPr id="14" name="Line 46"/>
          <p:cNvSpPr>
            <a:spLocks noChangeShapeType="1"/>
          </p:cNvSpPr>
          <p:nvPr/>
        </p:nvSpPr>
        <p:spPr bwMode="auto">
          <a:xfrm>
            <a:off x="7956376" y="36240"/>
            <a:ext cx="0" cy="152400"/>
          </a:xfrm>
          <a:prstGeom prst="line">
            <a:avLst/>
          </a:prstGeom>
          <a:noFill/>
          <a:ln w="12700">
            <a:solidFill>
              <a:srgbClr val="0168B3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de-DE" dirty="0">
              <a:latin typeface="Lucida Sans Unicode"/>
              <a:ea typeface="ヒラギノ角ゴ Pro W3" pitchFamily="-111" charset="-128"/>
              <a:cs typeface="ヒラギノ角ゴ Pro W3" pitchFamily="-111" charset="-128"/>
            </a:endParaRP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39999"/>
            <a:ext cx="5796136" cy="652697"/>
          </a:xfrm>
          <a:prstGeom prst="rect">
            <a:avLst/>
          </a:prstGeom>
        </p:spPr>
      </p:pic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744" y="6525344"/>
            <a:ext cx="9144000" cy="332656"/>
          </a:xfrm>
          <a:prstGeom prst="rect">
            <a:avLst/>
          </a:prstGeom>
          <a:solidFill>
            <a:srgbClr val="0068B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>
              <a:cs typeface="+mn-cs"/>
            </a:endParaRPr>
          </a:p>
        </p:txBody>
      </p:sp>
      <p:sp>
        <p:nvSpPr>
          <p:cNvPr id="9" name="Datumsplatzhalter 2"/>
          <p:cNvSpPr txBox="1">
            <a:spLocks/>
          </p:cNvSpPr>
          <p:nvPr userDrawn="1"/>
        </p:nvSpPr>
        <p:spPr>
          <a:xfrm>
            <a:off x="67416" y="6597352"/>
            <a:ext cx="2128320" cy="192962"/>
          </a:xfrm>
          <a:prstGeom prst="rect">
            <a:avLst/>
          </a:prstGeom>
        </p:spPr>
        <p:txBody>
          <a:bodyPr lIns="82945" tIns="41473" rIns="82945" bIns="41473" anchor="ctr"/>
          <a:lstStyle>
            <a:defPPr>
              <a:defRPr lang="de-DE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Lucida Sans Unicode" pitchFamily="34" charset="0"/>
                <a:ea typeface="+mn-ea"/>
                <a:cs typeface="Lucida Sans Unicode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05.11.2012</a:t>
            </a:r>
          </a:p>
        </p:txBody>
      </p:sp>
      <p:sp>
        <p:nvSpPr>
          <p:cNvPr id="15" name="Fußzeilenplatzhalter 3"/>
          <p:cNvSpPr>
            <a:spLocks noGrp="1"/>
          </p:cNvSpPr>
          <p:nvPr>
            <p:ph type="ftr" idx="3"/>
          </p:nvPr>
        </p:nvSpPr>
        <p:spPr>
          <a:xfrm>
            <a:off x="6156176" y="6597352"/>
            <a:ext cx="2897280" cy="192962"/>
          </a:xfrm>
          <a:prstGeom prst="rect">
            <a:avLst/>
          </a:prstGeom>
        </p:spPr>
        <p:txBody>
          <a:bodyPr lIns="82945" tIns="41473" rIns="82945" bIns="41473" anchor="ctr"/>
          <a:lstStyle>
            <a:lvl1pPr algn="r">
              <a:defRPr sz="100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</a:defRPr>
            </a:lvl1pPr>
          </a:lstStyle>
          <a:p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3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6" r:id="rId10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Elektra Text Pro" pitchFamily="2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Elektra Text Pro" pitchFamily="2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Elektra Text Pro" pitchFamily="2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Elektra Text Pro" pitchFamily="2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Elektra Text Pro" pitchFamily="2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Elektra Text Pro" pitchFamily="2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Elektra Text Pro" pitchFamily="2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Elektra Text Pro" pitchFamily="2" charset="0"/>
        </a:defRPr>
      </a:lvl9pPr>
    </p:titleStyle>
    <p:bodyStyle>
      <a:lvl1pPr marL="179388" indent="-17938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•"/>
        <a:defRPr sz="2400">
          <a:solidFill>
            <a:srgbClr val="0068B4"/>
          </a:solidFill>
          <a:latin typeface="+mn-lt"/>
          <a:ea typeface="+mn-ea"/>
          <a:cs typeface="+mn-cs"/>
        </a:defRPr>
      </a:lvl1pPr>
      <a:lvl2pPr marL="630238" indent="-271463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2pPr>
      <a:lvl3pPr marL="1233488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cs typeface="+mn-cs"/>
        </a:defRPr>
      </a:lvl3pPr>
      <a:lvl4pPr marL="1641475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CB4FD7-F5BB-A659-363C-E910E7CF7495}"/>
              </a:ext>
            </a:extLst>
          </p:cNvPr>
          <p:cNvSpPr/>
          <p:nvPr/>
        </p:nvSpPr>
        <p:spPr>
          <a:xfrm>
            <a:off x="-12833" y="4753107"/>
            <a:ext cx="9144000" cy="210489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7152" y="2287715"/>
            <a:ext cx="8308800" cy="1643595"/>
          </a:xfrm>
        </p:spPr>
        <p:txBody>
          <a:bodyPr/>
          <a:lstStyle/>
          <a:p>
            <a:r>
              <a:rPr lang="en-GB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INVESTIGATING RESPONSE-DRIVEN PROMPTING METHODS FOR LLM EFFICIENCY</a:t>
            </a:r>
            <a:endParaRPr lang="de-DE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Systematic Literature Review </a:t>
            </a:r>
            <a:endParaRPr lang="de-DE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457E12-7855-364B-3292-CC74E5F69524}"/>
              </a:ext>
            </a:extLst>
          </p:cNvPr>
          <p:cNvSpPr txBox="1"/>
          <p:nvPr/>
        </p:nvSpPr>
        <p:spPr>
          <a:xfrm>
            <a:off x="3446011" y="5085184"/>
            <a:ext cx="571129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600" i="0" u="none" strike="noStrike" baseline="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rPr>
              <a:t>Author: </a:t>
            </a:r>
            <a:r>
              <a:rPr lang="en-IN" sz="1600" b="1" i="0" u="none" strike="noStrike" baseline="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rPr>
              <a:t>Yashashwini </a:t>
            </a:r>
            <a:r>
              <a:rPr lang="en-IN" sz="1600" b="1" i="0" u="none" strike="noStrike" baseline="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rPr>
              <a:t>Sidramappa</a:t>
            </a:r>
            <a:r>
              <a:rPr lang="en-IN" sz="1600" b="1" i="0" u="none" strike="noStrike" baseline="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rPr>
              <a:t> Awate </a:t>
            </a:r>
          </a:p>
          <a:p>
            <a:pPr algn="r"/>
            <a:r>
              <a:rPr lang="en-IN" sz="1600" i="1" u="none" strike="noStrike" baseline="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rPr>
              <a:t>Institution: Otto von Guericke University Magdeburg, Germany </a:t>
            </a:r>
            <a:endParaRPr lang="en-IN" sz="1600" i="0" u="none" strike="noStrike" baseline="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</a:endParaRPr>
          </a:p>
          <a:p>
            <a:pPr algn="r"/>
            <a:r>
              <a:rPr lang="en-GB" sz="1600" i="1" u="none" strike="noStrike" baseline="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rPr>
              <a:t>Course: Recent Topics in Business Informatics  </a:t>
            </a:r>
          </a:p>
          <a:p>
            <a:pPr algn="r"/>
            <a:r>
              <a:rPr lang="en-GB" sz="1600" i="1" u="none" strike="noStrike" baseline="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rPr>
              <a:t>Wise 2025/2026 </a:t>
            </a:r>
            <a:endParaRPr lang="en-GB" sz="1600" i="0" u="none" strike="noStrike" baseline="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</a:endParaRPr>
          </a:p>
          <a:p>
            <a:pPr algn="r"/>
            <a:r>
              <a:rPr lang="en-IN" sz="1600" i="1" u="none" strike="noStrike" baseline="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rPr>
              <a:t>yashashwini.awate@st.ovgu.de </a:t>
            </a:r>
            <a:endParaRPr lang="en-IN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908976-852A-EF3C-C270-016BB6341268}"/>
              </a:ext>
            </a:extLst>
          </p:cNvPr>
          <p:cNvSpPr txBox="1"/>
          <p:nvPr/>
        </p:nvSpPr>
        <p:spPr>
          <a:xfrm>
            <a:off x="7380312" y="6408623"/>
            <a:ext cx="22783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effectLst/>
                <a:highlight>
                  <a:srgbClr val="0168B5"/>
                </a:highlight>
              </a:rPr>
              <a:t>28 | 01 | 2026 - Student ID 256228</a:t>
            </a:r>
            <a:endParaRPr lang="en-IN" sz="800" dirty="0">
              <a:solidFill>
                <a:schemeClr val="bg1"/>
              </a:solidFill>
              <a:highlight>
                <a:srgbClr val="0168B5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123504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21EB1-9CB6-B199-554E-291F4941B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764705"/>
            <a:ext cx="7776864" cy="648072"/>
          </a:xfrm>
        </p:spPr>
        <p:txBody>
          <a:bodyPr/>
          <a:lstStyle/>
          <a:p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Motivation: Why Efficiency Matters</a:t>
            </a:r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98ECA2-7626-8E52-4D75-E9FD567A73A0}"/>
              </a:ext>
            </a:extLst>
          </p:cNvPr>
          <p:cNvSpPr txBox="1"/>
          <p:nvPr/>
        </p:nvSpPr>
        <p:spPr>
          <a:xfrm>
            <a:off x="611560" y="1700808"/>
            <a:ext cx="8118648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Large Language Models deliver strong performance but are expensive to run [Wei et al., 2022] - </a:t>
            </a:r>
            <a:r>
              <a:rPr lang="en-GB" sz="1600" dirty="0"/>
              <a:t>ranging from </a:t>
            </a:r>
            <a:r>
              <a:rPr lang="en-GB" sz="1600" b="1" dirty="0"/>
              <a:t>$100,000 to $1,000,000+</a:t>
            </a:r>
            <a:r>
              <a:rPr lang="en-GB" sz="1600" dirty="0"/>
              <a:t> annually for large organizations.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Inference cost increases with token usage and latency </a:t>
            </a:r>
            <a:r>
              <a:rPr lang="en-IN" sz="1600" dirty="0"/>
              <a:t>- </a:t>
            </a:r>
            <a:r>
              <a:rPr lang="en-GB" sz="1600" dirty="0"/>
              <a:t>such as </a:t>
            </a:r>
            <a:r>
              <a:rPr lang="en-GB" sz="1600" b="1" dirty="0"/>
              <a:t>Prompt Compression</a:t>
            </a:r>
            <a:r>
              <a:rPr lang="en-GB" sz="1600" dirty="0"/>
              <a:t> (45% token reduction) [Zhong et al., 2023] and </a:t>
            </a:r>
            <a:r>
              <a:rPr lang="en-GB" sz="1600" b="1" dirty="0"/>
              <a:t>Smart Routing</a:t>
            </a:r>
            <a:r>
              <a:rPr lang="en-GB" sz="1600" dirty="0"/>
              <a:t> (40-52% latency reduction) [Tan et al., 2024], are designed to target these exact metrics.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Energy consumption of LLMs raises sustainability concerns </a:t>
            </a:r>
            <a:r>
              <a:rPr lang="en-IN" sz="1600" dirty="0"/>
              <a:t>- </a:t>
            </a:r>
            <a:r>
              <a:rPr lang="en-GB" sz="1600" dirty="0"/>
              <a:t>each inference consumes </a:t>
            </a:r>
            <a:r>
              <a:rPr lang="en-GB" sz="1600" b="1" dirty="0"/>
              <a:t>0.5–5 watt-hours</a:t>
            </a:r>
            <a:r>
              <a:rPr lang="en-GB" sz="1600" dirty="0"/>
              <a:t> of electricity, making efficiency an "environmental imperative" for organizations concerned with carbon emissions.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Efficient prompting offers a software-level solution without retraining models </a:t>
            </a:r>
            <a:r>
              <a:rPr lang="en-IN" sz="1600" dirty="0"/>
              <a:t>- </a:t>
            </a:r>
            <a:r>
              <a:rPr lang="en-GB" sz="1600" dirty="0"/>
              <a:t>Response-driven prompting provides a high-leverage, 'model-agnostic' optimization that reduces costs without the computational overhead of retraining or fine-tuning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AE384A-AC1B-6ACF-6210-27337E63B2A9}"/>
              </a:ext>
            </a:extLst>
          </p:cNvPr>
          <p:cNvSpPr/>
          <p:nvPr/>
        </p:nvSpPr>
        <p:spPr>
          <a:xfrm>
            <a:off x="38400" y="6597352"/>
            <a:ext cx="1005208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B88652-F995-4D2A-759D-376EDEBE0209}"/>
              </a:ext>
            </a:extLst>
          </p:cNvPr>
          <p:cNvSpPr txBox="1"/>
          <p:nvPr/>
        </p:nvSpPr>
        <p:spPr>
          <a:xfrm>
            <a:off x="7020272" y="0"/>
            <a:ext cx="22783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effectLst/>
                <a:highlight>
                  <a:srgbClr val="0168B5"/>
                </a:highlight>
              </a:rPr>
              <a:t>RTBI - 28 | 01 | 2026 - Student ID 256228</a:t>
            </a:r>
            <a:endParaRPr lang="en-IN" sz="800" dirty="0">
              <a:solidFill>
                <a:schemeClr val="bg1"/>
              </a:solidFill>
              <a:highlight>
                <a:srgbClr val="0168B5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04626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6315D3-43BA-59A1-E842-B48750C8B8F8}"/>
              </a:ext>
            </a:extLst>
          </p:cNvPr>
          <p:cNvSpPr txBox="1"/>
          <p:nvPr/>
        </p:nvSpPr>
        <p:spPr>
          <a:xfrm>
            <a:off x="323528" y="87603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0168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006575-D012-F7EA-E886-9AD5793FB1E1}"/>
              </a:ext>
            </a:extLst>
          </p:cNvPr>
          <p:cNvSpPr txBox="1"/>
          <p:nvPr/>
        </p:nvSpPr>
        <p:spPr>
          <a:xfrm>
            <a:off x="323528" y="1700808"/>
            <a:ext cx="8820472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The Economic Barrier: </a:t>
            </a:r>
            <a:r>
              <a:rPr lang="en-GB" sz="1600" dirty="0"/>
              <a:t>Production-scale LLM inference generates substantial operational costs, with annual expenses ranging from $100,000 to $1,000,000+ for large organizations.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The Environmental Challenge: </a:t>
            </a:r>
            <a:r>
              <a:rPr lang="en-GB" sz="1600" dirty="0"/>
              <a:t>Each LLM inference consumes 0.5–5 watt-hours of electricity, contributing significantly to data </a:t>
            </a:r>
            <a:r>
              <a:rPr lang="en-GB" sz="1600" dirty="0" err="1"/>
              <a:t>center</a:t>
            </a:r>
            <a:r>
              <a:rPr lang="en-GB" sz="1600" dirty="0"/>
              <a:t> carbon emissions.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The Trade-off Myth: </a:t>
            </a:r>
            <a:r>
              <a:rPr lang="en-GB" sz="1600" dirty="0"/>
              <a:t>Traditional optimizations (e.g., smaller models) often sacrifice 5–15% accuracy on complex tasks, creating a perceived conflict between efficiency and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The Research Infrastructure Gap: </a:t>
            </a:r>
            <a:r>
              <a:rPr lang="en-GB" sz="1600" dirty="0"/>
              <a:t>72% of existing studies fail to measure both efficiency and quality simultaneously, impeding the ability to find balanced solutions.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The Software-Level Opportunity: </a:t>
            </a:r>
            <a:r>
              <a:rPr lang="en-GB" sz="1600" dirty="0"/>
              <a:t>There is an urgent need to investigate response-driven prompting intelligent interaction design that reduces costs without requiring model retraining or architectural changes.</a:t>
            </a:r>
            <a:endParaRPr lang="en-IN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65B2CD-AE86-F8EF-9249-D1C666F0C068}"/>
              </a:ext>
            </a:extLst>
          </p:cNvPr>
          <p:cNvSpPr/>
          <p:nvPr/>
        </p:nvSpPr>
        <p:spPr>
          <a:xfrm>
            <a:off x="38400" y="6597352"/>
            <a:ext cx="1005208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27D603-1212-4CC5-7531-C07BF5583C39}"/>
              </a:ext>
            </a:extLst>
          </p:cNvPr>
          <p:cNvSpPr txBox="1"/>
          <p:nvPr/>
        </p:nvSpPr>
        <p:spPr>
          <a:xfrm>
            <a:off x="7020272" y="0"/>
            <a:ext cx="22783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effectLst/>
                <a:highlight>
                  <a:srgbClr val="0168B5"/>
                </a:highlight>
              </a:rPr>
              <a:t>RTBI - 28 | 01 | 2026 - Student ID 256228</a:t>
            </a:r>
            <a:endParaRPr lang="en-IN" sz="800" dirty="0">
              <a:solidFill>
                <a:schemeClr val="bg1"/>
              </a:solidFill>
              <a:highlight>
                <a:srgbClr val="0168B5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06207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9089C-7AAB-3BFF-FA1E-4E3577FBB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138995"/>
            <a:ext cx="8154000" cy="561813"/>
          </a:xfrm>
        </p:spPr>
        <p:txBody>
          <a:bodyPr/>
          <a:lstStyle/>
          <a:p>
            <a:r>
              <a:rPr lang="en-IN" sz="1800" b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PRISMA-Compliant Systematic Review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583F2E-EB36-4A32-10E0-33FB9F052FAB}"/>
              </a:ext>
            </a:extLst>
          </p:cNvPr>
          <p:cNvSpPr txBox="1"/>
          <p:nvPr/>
        </p:nvSpPr>
        <p:spPr>
          <a:xfrm>
            <a:off x="539552" y="769663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625A57B-0406-C194-0F44-4F844830A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6" b="11803"/>
          <a:stretch>
            <a:fillRect/>
          </a:stretch>
        </p:blipFill>
        <p:spPr>
          <a:xfrm>
            <a:off x="2171700" y="2545917"/>
            <a:ext cx="4800600" cy="2808312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4C7CB41-AB16-15FF-F9AB-EE637E7B1A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990124"/>
              </p:ext>
            </p:extLst>
          </p:nvPr>
        </p:nvGraphicFramePr>
        <p:xfrm>
          <a:off x="707740" y="5573171"/>
          <a:ext cx="7592170" cy="6400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95780">
                  <a:extLst>
                    <a:ext uri="{9D8B030D-6E8A-4147-A177-3AD203B41FA5}">
                      <a16:colId xmlns:a16="http://schemas.microsoft.com/office/drawing/2014/main" val="3248344911"/>
                    </a:ext>
                  </a:extLst>
                </a:gridCol>
                <a:gridCol w="1932130">
                  <a:extLst>
                    <a:ext uri="{9D8B030D-6E8A-4147-A177-3AD203B41FA5}">
                      <a16:colId xmlns:a16="http://schemas.microsoft.com/office/drawing/2014/main" val="2028866188"/>
                    </a:ext>
                  </a:extLst>
                </a:gridCol>
                <a:gridCol w="1932130">
                  <a:extLst>
                    <a:ext uri="{9D8B030D-6E8A-4147-A177-3AD203B41FA5}">
                      <a16:colId xmlns:a16="http://schemas.microsoft.com/office/drawing/2014/main" val="4228627542"/>
                    </a:ext>
                  </a:extLst>
                </a:gridCol>
                <a:gridCol w="1932130">
                  <a:extLst>
                    <a:ext uri="{9D8B030D-6E8A-4147-A177-3AD203B41FA5}">
                      <a16:colId xmlns:a16="http://schemas.microsoft.com/office/drawing/2014/main" val="29516147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solidFill>
                            <a:srgbClr val="0168B3"/>
                          </a:solidFill>
                          <a:effectLst/>
                        </a:rPr>
                        <a:t>Stage 1</a:t>
                      </a:r>
                      <a:br>
                        <a:rPr lang="en-IN" dirty="0">
                          <a:solidFill>
                            <a:srgbClr val="CBD5E1"/>
                          </a:solidFill>
                          <a:effectLst/>
                        </a:rPr>
                      </a:b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321 candidates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b="1" dirty="0">
                          <a:solidFill>
                            <a:srgbClr val="0168B3"/>
                          </a:solidFill>
                          <a:effectLst/>
                        </a:rPr>
                        <a:t>Stage 2</a:t>
                      </a:r>
                      <a:br>
                        <a:rPr lang="en-GB" dirty="0">
                          <a:solidFill>
                            <a:srgbClr val="CBD5E1"/>
                          </a:solidFill>
                          <a:effectLst/>
                        </a:rPr>
                      </a:br>
                      <a:r>
                        <a:rPr lang="en-GB" dirty="0">
                          <a:solidFill>
                            <a:schemeClr val="tx1"/>
                          </a:solidFill>
                          <a:effectLst/>
                        </a:rPr>
                        <a:t>180 title/abstract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solidFill>
                            <a:srgbClr val="0168B3"/>
                          </a:solidFill>
                          <a:effectLst/>
                        </a:rPr>
                        <a:t>Stage 3</a:t>
                      </a:r>
                      <a:br>
                        <a:rPr lang="en-IN" dirty="0">
                          <a:solidFill>
                            <a:srgbClr val="CBD5E1"/>
                          </a:solidFill>
                          <a:effectLst/>
                        </a:rPr>
                      </a:b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74 full-text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solidFill>
                            <a:srgbClr val="2ECC71"/>
                          </a:solidFill>
                          <a:effectLst/>
                        </a:rPr>
                        <a:t>Stage 4</a:t>
                      </a:r>
                      <a:br>
                        <a:rPr lang="en-IN" dirty="0">
                          <a:solidFill>
                            <a:srgbClr val="CBD5E1"/>
                          </a:solidFill>
                          <a:effectLst/>
                        </a:rPr>
                      </a:b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32 included 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442478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4B557E30-E8F1-08D1-5397-70A1B2259C3E}"/>
              </a:ext>
            </a:extLst>
          </p:cNvPr>
          <p:cNvSpPr txBox="1"/>
          <p:nvPr/>
        </p:nvSpPr>
        <p:spPr>
          <a:xfrm>
            <a:off x="543834" y="1700808"/>
            <a:ext cx="71137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Search Period: </a:t>
            </a:r>
            <a:r>
              <a:rPr lang="en-IN" sz="1600" dirty="0"/>
              <a:t>January 1, 2022 – December 31, 2025</a:t>
            </a:r>
          </a:p>
          <a:p>
            <a:r>
              <a:rPr lang="en-IN" sz="1600" b="1" dirty="0"/>
              <a:t>Databases:</a:t>
            </a:r>
            <a:r>
              <a:rPr lang="en-IN" sz="1600" dirty="0"/>
              <a:t> Google Scholar, </a:t>
            </a:r>
            <a:r>
              <a:rPr lang="en-IN" sz="1600" dirty="0" err="1"/>
              <a:t>arXiv</a:t>
            </a:r>
            <a:r>
              <a:rPr lang="en-IN" sz="1600" dirty="0"/>
              <a:t>, IEEE Xplore, ACM, Scopus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75B2A2-93F5-E190-A24C-3ECC36CFFD48}"/>
              </a:ext>
            </a:extLst>
          </p:cNvPr>
          <p:cNvSpPr/>
          <p:nvPr/>
        </p:nvSpPr>
        <p:spPr>
          <a:xfrm>
            <a:off x="38400" y="6597352"/>
            <a:ext cx="1005208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96DA5-99FB-835E-4764-8210BB03BD0F}"/>
              </a:ext>
            </a:extLst>
          </p:cNvPr>
          <p:cNvSpPr txBox="1"/>
          <p:nvPr/>
        </p:nvSpPr>
        <p:spPr>
          <a:xfrm>
            <a:off x="7020272" y="0"/>
            <a:ext cx="22783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effectLst/>
                <a:highlight>
                  <a:srgbClr val="0168B5"/>
                </a:highlight>
              </a:rPr>
              <a:t>RTBI - 28 | 01 | 2026 - Student ID 256228</a:t>
            </a:r>
            <a:endParaRPr lang="en-IN" sz="800" dirty="0">
              <a:solidFill>
                <a:schemeClr val="bg1"/>
              </a:solidFill>
              <a:highlight>
                <a:srgbClr val="0168B5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87804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0B2CDC1-CDC5-1506-EDFB-1046F47B9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49" b="17260"/>
          <a:stretch>
            <a:fillRect/>
          </a:stretch>
        </p:blipFill>
        <p:spPr>
          <a:xfrm>
            <a:off x="228600" y="2348880"/>
            <a:ext cx="8686800" cy="30963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57E48A-BD8F-D299-535B-F115456EEAE6}"/>
              </a:ext>
            </a:extLst>
          </p:cNvPr>
          <p:cNvSpPr txBox="1"/>
          <p:nvPr/>
        </p:nvSpPr>
        <p:spPr>
          <a:xfrm>
            <a:off x="755576" y="980728"/>
            <a:ext cx="8686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Research </a:t>
            </a:r>
            <a:r>
              <a:rPr lang="en-GB" sz="3200" b="1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Questions Driving This Review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B1BAFE-5F2A-9516-19D5-29BF2A267942}"/>
              </a:ext>
            </a:extLst>
          </p:cNvPr>
          <p:cNvSpPr txBox="1"/>
          <p:nvPr/>
        </p:nvSpPr>
        <p:spPr>
          <a:xfrm>
            <a:off x="7020272" y="0"/>
            <a:ext cx="22783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effectLst/>
                <a:highlight>
                  <a:srgbClr val="000080"/>
                </a:highlight>
              </a:rPr>
              <a:t>RTBI - 28 | 01 | 2026 - Student ID 256228</a:t>
            </a:r>
            <a:endParaRPr lang="en-IN" sz="800" dirty="0">
              <a:solidFill>
                <a:schemeClr val="bg1"/>
              </a:solidFill>
              <a:highlight>
                <a:srgbClr val="000080"/>
              </a:highligh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9D6469-46DC-5CC7-96EF-DEE97E6F571B}"/>
              </a:ext>
            </a:extLst>
          </p:cNvPr>
          <p:cNvSpPr/>
          <p:nvPr/>
        </p:nvSpPr>
        <p:spPr>
          <a:xfrm>
            <a:off x="38400" y="6597352"/>
            <a:ext cx="1005208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FFD339-3D95-F2E4-1651-2D353D38148B}"/>
              </a:ext>
            </a:extLst>
          </p:cNvPr>
          <p:cNvSpPr txBox="1"/>
          <p:nvPr/>
        </p:nvSpPr>
        <p:spPr>
          <a:xfrm>
            <a:off x="7020272" y="0"/>
            <a:ext cx="22783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effectLst/>
                <a:highlight>
                  <a:srgbClr val="0168B5"/>
                </a:highlight>
              </a:rPr>
              <a:t>RTBI - 28 | 01 | 2026 - Student ID 256228</a:t>
            </a:r>
            <a:endParaRPr lang="en-IN" sz="800" dirty="0">
              <a:solidFill>
                <a:schemeClr val="bg1"/>
              </a:solidFill>
              <a:highlight>
                <a:srgbClr val="0168B5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83142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78CE8-C855-B15C-35F4-69A675CD7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00" y="687808"/>
            <a:ext cx="8154000" cy="561813"/>
          </a:xfrm>
        </p:spPr>
        <p:txBody>
          <a:bodyPr/>
          <a:lstStyle/>
          <a:p>
            <a:pPr algn="ctr"/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Response-Driven Prompting Strategies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EF7A95-0456-25D8-0817-B6C4AF139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21" b="8575"/>
          <a:stretch>
            <a:fillRect/>
          </a:stretch>
        </p:blipFill>
        <p:spPr>
          <a:xfrm>
            <a:off x="1079612" y="1265881"/>
            <a:ext cx="6984776" cy="51874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DEBD4B8-E3D9-422D-D725-2872ABD93781}"/>
              </a:ext>
            </a:extLst>
          </p:cNvPr>
          <p:cNvSpPr/>
          <p:nvPr/>
        </p:nvSpPr>
        <p:spPr>
          <a:xfrm>
            <a:off x="38400" y="6597352"/>
            <a:ext cx="1005208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FF773E-524A-1A3A-6952-0019B61089DF}"/>
              </a:ext>
            </a:extLst>
          </p:cNvPr>
          <p:cNvSpPr txBox="1"/>
          <p:nvPr/>
        </p:nvSpPr>
        <p:spPr>
          <a:xfrm>
            <a:off x="7020272" y="0"/>
            <a:ext cx="22783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effectLst/>
                <a:highlight>
                  <a:srgbClr val="0168B5"/>
                </a:highlight>
              </a:rPr>
              <a:t>RTBI - 28 | 01 | 2026 - Student ID 256228</a:t>
            </a:r>
            <a:endParaRPr lang="en-IN" sz="800" dirty="0">
              <a:solidFill>
                <a:schemeClr val="bg1"/>
              </a:solidFill>
              <a:highlight>
                <a:srgbClr val="0168B5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89484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14E43-820E-BC4E-F0A8-E096D410B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764704"/>
            <a:ext cx="8154000" cy="561813"/>
          </a:xfrm>
        </p:spPr>
        <p:txBody>
          <a:bodyPr/>
          <a:lstStyle/>
          <a:p>
            <a:r>
              <a:rPr lang="en-GB" sz="2800" dirty="0">
                <a:solidFill>
                  <a:srgbClr val="0168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Recommendations by Task Type</a:t>
            </a:r>
            <a:endParaRPr lang="en-IN" sz="2800" dirty="0">
              <a:solidFill>
                <a:srgbClr val="0168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0753EF-2D7E-1776-43BD-3B16F32A1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08" b="6190"/>
          <a:stretch>
            <a:fillRect/>
          </a:stretch>
        </p:blipFill>
        <p:spPr>
          <a:xfrm>
            <a:off x="38400" y="1844824"/>
            <a:ext cx="9144000" cy="38164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046767-0BEE-D58A-3F88-6D3B191127DD}"/>
              </a:ext>
            </a:extLst>
          </p:cNvPr>
          <p:cNvSpPr txBox="1"/>
          <p:nvPr/>
        </p:nvSpPr>
        <p:spPr>
          <a:xfrm>
            <a:off x="1259632" y="1172628"/>
            <a:ext cx="9383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0168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key insight is that no single strategy is universal, optimization must be task-specific.</a:t>
            </a:r>
            <a:endParaRPr lang="en-IN" sz="1400" dirty="0">
              <a:solidFill>
                <a:srgbClr val="0168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D1D33F-2397-8601-AB1C-066DA489E306}"/>
              </a:ext>
            </a:extLst>
          </p:cNvPr>
          <p:cNvSpPr/>
          <p:nvPr/>
        </p:nvSpPr>
        <p:spPr>
          <a:xfrm>
            <a:off x="38400" y="6597352"/>
            <a:ext cx="1005208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A20015-1D25-AC22-5641-3779EF421D40}"/>
              </a:ext>
            </a:extLst>
          </p:cNvPr>
          <p:cNvSpPr/>
          <p:nvPr/>
        </p:nvSpPr>
        <p:spPr>
          <a:xfrm>
            <a:off x="7092280" y="24979"/>
            <a:ext cx="1869304" cy="21154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BF7C86-E188-B485-3BA9-8341426A6F56}"/>
              </a:ext>
            </a:extLst>
          </p:cNvPr>
          <p:cNvSpPr txBox="1"/>
          <p:nvPr/>
        </p:nvSpPr>
        <p:spPr>
          <a:xfrm>
            <a:off x="7020272" y="0"/>
            <a:ext cx="22783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effectLst/>
                <a:highlight>
                  <a:srgbClr val="0168B5"/>
                </a:highlight>
              </a:rPr>
              <a:t>RTBI - 28 | 01 | 2026 - Student ID 256228</a:t>
            </a:r>
            <a:endParaRPr lang="en-IN" sz="800" dirty="0">
              <a:solidFill>
                <a:schemeClr val="bg1"/>
              </a:solidFill>
              <a:highlight>
                <a:srgbClr val="0168B5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4399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DBDD5-81D2-C382-A95C-3D08F4B0B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384A17-AEF7-E61D-825F-C873EE41B177}"/>
              </a:ext>
            </a:extLst>
          </p:cNvPr>
          <p:cNvSpPr txBox="1"/>
          <p:nvPr/>
        </p:nvSpPr>
        <p:spPr>
          <a:xfrm>
            <a:off x="323528" y="87603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0168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CORE INSIGHT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2374EA-5BC0-9649-D9E3-121437A9C884}"/>
              </a:ext>
            </a:extLst>
          </p:cNvPr>
          <p:cNvSpPr txBox="1"/>
          <p:nvPr/>
        </p:nvSpPr>
        <p:spPr>
          <a:xfrm>
            <a:off x="323528" y="1700808"/>
            <a:ext cx="88204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 and Quality Are Not Opposing Forces</a:t>
            </a:r>
            <a:endParaRPr lang="en-IN" sz="2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99E178-12AA-B717-839E-0E340696AE7C}"/>
              </a:ext>
            </a:extLst>
          </p:cNvPr>
          <p:cNvSpPr/>
          <p:nvPr/>
        </p:nvSpPr>
        <p:spPr>
          <a:xfrm>
            <a:off x="38400" y="6597352"/>
            <a:ext cx="1005208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FCDF10-75C9-25EB-A105-753D5C469CC6}"/>
              </a:ext>
            </a:extLst>
          </p:cNvPr>
          <p:cNvSpPr txBox="1"/>
          <p:nvPr/>
        </p:nvSpPr>
        <p:spPr>
          <a:xfrm>
            <a:off x="7020272" y="0"/>
            <a:ext cx="22783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effectLst/>
                <a:highlight>
                  <a:srgbClr val="0168B5"/>
                </a:highlight>
              </a:rPr>
              <a:t>RTBI - 28 | 01 | 2026 - Student ID 256228</a:t>
            </a:r>
            <a:endParaRPr lang="en-IN" sz="800" dirty="0">
              <a:solidFill>
                <a:schemeClr val="bg1"/>
              </a:solidFill>
              <a:highlight>
                <a:srgbClr val="0168B5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25FBC2-A278-019A-B63C-C78B417DDB07}"/>
              </a:ext>
            </a:extLst>
          </p:cNvPr>
          <p:cNvSpPr txBox="1"/>
          <p:nvPr/>
        </p:nvSpPr>
        <p:spPr>
          <a:xfrm>
            <a:off x="323528" y="2402474"/>
            <a:ext cx="69749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Conventional Wisdom: </a:t>
            </a:r>
          </a:p>
          <a:p>
            <a:r>
              <a:rPr lang="en-IN" dirty="0"/>
              <a:t>Cheaper models → worse answers (trade-off)</a:t>
            </a:r>
          </a:p>
          <a:p>
            <a:endParaRPr lang="en-IN" dirty="0"/>
          </a:p>
          <a:p>
            <a:r>
              <a:rPr lang="en-IN" b="1" dirty="0"/>
              <a:t>Evidence Shows:</a:t>
            </a:r>
          </a:p>
          <a:p>
            <a:r>
              <a:rPr lang="en-IN" dirty="0"/>
              <a:t>Intelligent prompting → better AND cheaper</a:t>
            </a:r>
          </a:p>
          <a:p>
            <a:endParaRPr lang="en-IN" dirty="0"/>
          </a:p>
          <a:p>
            <a:r>
              <a:rPr lang="en-IN" b="1" dirty="0"/>
              <a:t>Why?</a:t>
            </a:r>
          </a:p>
          <a:p>
            <a:r>
              <a:rPr lang="en-IN" dirty="0"/>
              <a:t>Inefficiency = noise, confusion, wasted tokens </a:t>
            </a:r>
          </a:p>
          <a:p>
            <a:r>
              <a:rPr lang="en-IN" dirty="0"/>
              <a:t>Efficiency = clear signal, focused context, smart routing</a:t>
            </a:r>
          </a:p>
          <a:p>
            <a:endParaRPr lang="en-IN" dirty="0"/>
          </a:p>
          <a:p>
            <a:r>
              <a:rPr lang="en-IN" b="1" dirty="0"/>
              <a:t>Impact:</a:t>
            </a:r>
          </a:p>
          <a:p>
            <a:r>
              <a:rPr lang="en-IN" dirty="0"/>
              <a:t>Replicable, systematic, generalizable across 32 studies in the SLR</a:t>
            </a:r>
          </a:p>
        </p:txBody>
      </p:sp>
    </p:spTree>
    <p:extLst>
      <p:ext uri="{BB962C8B-B14F-4D97-AF65-F5344CB8AC3E}">
        <p14:creationId xmlns:p14="http://schemas.microsoft.com/office/powerpoint/2010/main" val="1989184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B6D3DDA-A2AD-D0E2-6A48-FD34F3966FB6}"/>
              </a:ext>
            </a:extLst>
          </p:cNvPr>
          <p:cNvSpPr txBox="1"/>
          <p:nvPr/>
        </p:nvSpPr>
        <p:spPr>
          <a:xfrm>
            <a:off x="533400" y="1484784"/>
            <a:ext cx="815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Conventional Wisdom:</a:t>
            </a:r>
          </a:p>
          <a:p>
            <a:r>
              <a:rPr lang="en-IN" dirty="0"/>
              <a:t>Cheaper models → worse answers (5-15% accuracy loss assumed)</a:t>
            </a:r>
          </a:p>
          <a:p>
            <a:endParaRPr lang="en-IN" dirty="0"/>
          </a:p>
          <a:p>
            <a:r>
              <a:rPr lang="en-IN" b="1" dirty="0"/>
              <a:t>Evidence Shows:</a:t>
            </a:r>
          </a:p>
          <a:p>
            <a:r>
              <a:rPr lang="en-IN" dirty="0"/>
              <a:t>Intelligent prompting → BETTER AND CHEAPER</a:t>
            </a:r>
          </a:p>
          <a:p>
            <a:endParaRPr lang="en-IN" dirty="0"/>
          </a:p>
          <a:p>
            <a:r>
              <a:rPr lang="en-IN" dirty="0"/>
              <a:t>• Compression: 45% tokens saved + 95-102% quality preserved</a:t>
            </a:r>
          </a:p>
          <a:p>
            <a:r>
              <a:rPr lang="en-IN" dirty="0"/>
              <a:t>• Chain-of-Thought: +18% accuracy at -2% to +5% token cost</a:t>
            </a:r>
          </a:p>
          <a:p>
            <a:r>
              <a:rPr lang="en-IN" dirty="0"/>
              <a:t>• Adaptive RAG: 35% tokens saved + 20-35% less hallucination</a:t>
            </a:r>
          </a:p>
          <a:p>
            <a:r>
              <a:rPr lang="en-IN" dirty="0"/>
              <a:t>• Soft Tuning: 95% parameters reduced + 1-5% accuracy gain</a:t>
            </a:r>
          </a:p>
          <a:p>
            <a:r>
              <a:rPr lang="en-IN" dirty="0"/>
              <a:t>• Smart Routing: 40% latency faster + 99.1-99.5% accuracy maintained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A8AC7-9389-97F1-1438-7DD313D0F1FF}"/>
              </a:ext>
            </a:extLst>
          </p:cNvPr>
          <p:cNvSpPr txBox="1"/>
          <p:nvPr/>
        </p:nvSpPr>
        <p:spPr>
          <a:xfrm>
            <a:off x="533400" y="908720"/>
            <a:ext cx="5904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All 5 strategies prove: Efficiency ≠ Quality Loss</a:t>
            </a:r>
          </a:p>
        </p:txBody>
      </p:sp>
    </p:spTree>
    <p:extLst>
      <p:ext uri="{BB962C8B-B14F-4D97-AF65-F5344CB8AC3E}">
        <p14:creationId xmlns:p14="http://schemas.microsoft.com/office/powerpoint/2010/main" val="1798971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DC8DF-6E77-87FC-1237-DE4B60DB1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solidFill>
                  <a:srgbClr val="0168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Roadmap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367B8F-335F-637D-863A-1C698924CD50}"/>
              </a:ext>
            </a:extLst>
          </p:cNvPr>
          <p:cNvSpPr txBox="1"/>
          <p:nvPr/>
        </p:nvSpPr>
        <p:spPr>
          <a:xfrm>
            <a:off x="456600" y="1335632"/>
            <a:ext cx="84969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Phase 1: </a:t>
            </a:r>
            <a:r>
              <a:rPr lang="en-IN" sz="1600" dirty="0"/>
              <a:t>Assessment &amp; Baseline (2 Weeks)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Audit current system metrics: token count, latency, API costs, and output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Identify primary bottlenecks to select the most suitable strategy (e.g., Compression for high token volume).</a:t>
            </a:r>
          </a:p>
          <a:p>
            <a:endParaRPr lang="en-IN" sz="1600" dirty="0"/>
          </a:p>
          <a:p>
            <a:r>
              <a:rPr lang="en-IN" sz="1600" b="1" dirty="0"/>
              <a:t>Phase 2: </a:t>
            </a:r>
            <a:r>
              <a:rPr lang="en-IN" sz="1600" dirty="0"/>
              <a:t>Strategy Implementation (2 Weeks)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Compression: Integrate libraries like </a:t>
            </a:r>
            <a:r>
              <a:rPr lang="en-IN" sz="1600" dirty="0" err="1"/>
              <a:t>LLMLingua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Routing: Train a difficulty classifier on 500–1,000 examples.</a:t>
            </a:r>
          </a:p>
          <a:p>
            <a:endParaRPr lang="en-IN" sz="1600" dirty="0"/>
          </a:p>
          <a:p>
            <a:r>
              <a:rPr lang="en-IN" sz="1600" b="1" dirty="0"/>
              <a:t>Phase 3: </a:t>
            </a:r>
            <a:r>
              <a:rPr lang="en-IN" sz="1600" dirty="0"/>
              <a:t>Validation &amp; Tuning (2 Weeks)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Conduct A/B testing on 10,000+ queries to compare optimized vs. baseline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Iterate on hyperparameters like compression aggressiveness or routing thresholds.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1600" b="1" dirty="0"/>
              <a:t>Phase 4: </a:t>
            </a:r>
            <a:r>
              <a:rPr lang="en-IN" sz="1600" dirty="0"/>
              <a:t>Production Deployment (1 Week)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Execute a gradual rollout (10% → 50% → 100%) while continuously monitoring metrics.</a:t>
            </a:r>
          </a:p>
          <a:p>
            <a:endParaRPr lang="en-IN" sz="1600" dirty="0"/>
          </a:p>
          <a:p>
            <a:endParaRPr lang="en-IN" sz="1600" dirty="0"/>
          </a:p>
          <a:p>
            <a:r>
              <a:rPr lang="en-IN" sz="1600" b="1" dirty="0"/>
              <a:t>Total Timeline: </a:t>
            </a:r>
            <a:r>
              <a:rPr lang="en-IN" sz="1600" dirty="0"/>
              <a:t>A full implementation typically requires 6–7 weeks.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CDED77-F35C-116F-3FCB-4AAB7693102D}"/>
              </a:ext>
            </a:extLst>
          </p:cNvPr>
          <p:cNvSpPr/>
          <p:nvPr/>
        </p:nvSpPr>
        <p:spPr>
          <a:xfrm>
            <a:off x="38400" y="6597352"/>
            <a:ext cx="1005208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DF2644-084D-ACEC-E15F-BC0CB60274F7}"/>
              </a:ext>
            </a:extLst>
          </p:cNvPr>
          <p:cNvSpPr txBox="1"/>
          <p:nvPr/>
        </p:nvSpPr>
        <p:spPr>
          <a:xfrm>
            <a:off x="7020272" y="0"/>
            <a:ext cx="22783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effectLst/>
                <a:highlight>
                  <a:srgbClr val="0168B5"/>
                </a:highlight>
              </a:rPr>
              <a:t>RTBI - 28 | 01 | 2026 - Student ID 256228</a:t>
            </a:r>
            <a:endParaRPr lang="en-IN" sz="800" dirty="0">
              <a:solidFill>
                <a:schemeClr val="bg1"/>
              </a:solidFill>
              <a:highlight>
                <a:srgbClr val="0168B5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42530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40FDA-2E44-889C-F1E0-20B712585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82593-44F8-B7C8-059A-E89AB8FB0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solidFill>
                  <a:srgbClr val="0168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Implications - </a:t>
            </a:r>
            <a:r>
              <a:rPr lang="en-GB" sz="2800" dirty="0">
                <a:solidFill>
                  <a:srgbClr val="0168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Economic Impact</a:t>
            </a:r>
            <a:br>
              <a:rPr lang="en-GB" sz="2800" dirty="0">
                <a:solidFill>
                  <a:srgbClr val="0168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solidFill>
                <a:srgbClr val="0168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8355D-29E5-4BEC-C320-CA4FF53B9E76}"/>
              </a:ext>
            </a:extLst>
          </p:cNvPr>
          <p:cNvSpPr txBox="1"/>
          <p:nvPr/>
        </p:nvSpPr>
        <p:spPr>
          <a:xfrm>
            <a:off x="533400" y="1228397"/>
            <a:ext cx="843108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2000" dirty="0"/>
          </a:p>
          <a:p>
            <a:r>
              <a:rPr lang="en-GB" sz="2000" b="1" dirty="0"/>
              <a:t>High ROI: </a:t>
            </a:r>
            <a:r>
              <a:rPr lang="en-GB" sz="2000" dirty="0"/>
              <a:t>Response-driven optimizations provide rapid cost reduction with payback periods as short as 2- 4 weeks.</a:t>
            </a:r>
          </a:p>
          <a:p>
            <a:endParaRPr lang="en-GB" sz="2000" dirty="0"/>
          </a:p>
          <a:p>
            <a:r>
              <a:rPr lang="en-GB" sz="2000" b="1" dirty="0"/>
              <a:t>Scenario 1: </a:t>
            </a:r>
            <a:r>
              <a:rPr lang="en-GB" sz="2000" dirty="0"/>
              <a:t>Customer Support Chatbot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By applying Compression + Routing, organizations can expect a 35% token reduction.</a:t>
            </a:r>
          </a:p>
          <a:p>
            <a:endParaRPr lang="en-GB" sz="2000" dirty="0"/>
          </a:p>
          <a:p>
            <a:r>
              <a:rPr lang="en-GB" sz="2000" b="1" dirty="0"/>
              <a:t>Scenario 2: </a:t>
            </a:r>
            <a:r>
              <a:rPr lang="en-GB" sz="2000" dirty="0"/>
              <a:t>Research Analysis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Using Compression + Adaptive RAG on long documents can yield a 50% reduction in token costs.</a:t>
            </a:r>
          </a:p>
          <a:p>
            <a:endParaRPr lang="en-GB" sz="2000" dirty="0"/>
          </a:p>
          <a:p>
            <a:r>
              <a:rPr lang="en-GB" sz="2000" dirty="0"/>
              <a:t>Scale of Savings: Annual savings range from $8,000 for small systems to over $900,000 for large-scale deployments.</a:t>
            </a:r>
            <a:endParaRPr lang="en-IN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71A530-B33C-4F4C-C7B8-8ED72764ADE5}"/>
              </a:ext>
            </a:extLst>
          </p:cNvPr>
          <p:cNvSpPr/>
          <p:nvPr/>
        </p:nvSpPr>
        <p:spPr>
          <a:xfrm>
            <a:off x="38400" y="6597352"/>
            <a:ext cx="1005208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986EE6-F8A3-1DEB-6D8E-B2205F75063A}"/>
              </a:ext>
            </a:extLst>
          </p:cNvPr>
          <p:cNvSpPr txBox="1"/>
          <p:nvPr/>
        </p:nvSpPr>
        <p:spPr>
          <a:xfrm>
            <a:off x="7020272" y="0"/>
            <a:ext cx="22783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effectLst/>
                <a:highlight>
                  <a:srgbClr val="0168B5"/>
                </a:highlight>
              </a:rPr>
              <a:t>RTBI - 28 | 01 | 2026 - Student ID 256228</a:t>
            </a:r>
            <a:endParaRPr lang="en-IN" sz="800" dirty="0">
              <a:solidFill>
                <a:schemeClr val="bg1"/>
              </a:solidFill>
              <a:highlight>
                <a:srgbClr val="0168B5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69311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C1592-0629-01F7-D739-8BFB8DB65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4817D-8FE3-E75A-D7E7-732C8A171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solidFill>
                  <a:srgbClr val="0168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Research Gap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A8606A-5B03-5941-E685-C98DE78DC496}"/>
              </a:ext>
            </a:extLst>
          </p:cNvPr>
          <p:cNvSpPr txBox="1"/>
          <p:nvPr/>
        </p:nvSpPr>
        <p:spPr>
          <a:xfrm>
            <a:off x="537362" y="1556792"/>
            <a:ext cx="8154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The Findings: </a:t>
            </a:r>
            <a:r>
              <a:rPr lang="en-GB" sz="1400" dirty="0"/>
              <a:t>Out of 321 candidate papers, 72% (232 papers) were excluded because they measured only efficiency or only quality.</a:t>
            </a:r>
          </a:p>
          <a:p>
            <a:endParaRPr lang="en-GB" sz="1400" dirty="0"/>
          </a:p>
          <a:p>
            <a:r>
              <a:rPr lang="en-GB" sz="1400" b="1" dirty="0"/>
              <a:t>Infrastructure Problem:</a:t>
            </a:r>
            <a:r>
              <a:rPr lang="en-GB" sz="1400" dirty="0"/>
              <a:t> This "measurement gap" makes it nearly impossible for practitioners to understand the true trade-offs of an optimization strategy.</a:t>
            </a:r>
          </a:p>
          <a:p>
            <a:endParaRPr lang="en-GB" sz="1400" dirty="0"/>
          </a:p>
          <a:p>
            <a:endParaRPr lang="en-GB" sz="1400" dirty="0"/>
          </a:p>
          <a:p>
            <a:r>
              <a:rPr lang="en-GB" sz="1400" b="1" dirty="0"/>
              <a:t>Metric Coverage Breakdown:</a:t>
            </a:r>
          </a:p>
          <a:p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Token Counting: 28/32 papers 88% of studies (High adoption).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Latency Measurement: 18/32 papers 56% of studies (Moderate adoption).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API Cost Tracking: 12/32 papers 38% of studies (Low adoption).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Energy Consumption: 5/32 papers Only 16% of studies (Critical neglect).</a:t>
            </a:r>
          </a:p>
          <a:p>
            <a:endParaRPr lang="en-GB" sz="1400" dirty="0"/>
          </a:p>
          <a:p>
            <a:endParaRPr lang="en-GB" sz="1400" dirty="0"/>
          </a:p>
          <a:p>
            <a:r>
              <a:rPr lang="en-GB" sz="1400" b="1" dirty="0"/>
              <a:t>The Quality Bias: </a:t>
            </a:r>
            <a:r>
              <a:rPr lang="en-GB" sz="1400" dirty="0"/>
              <a:t>While 100% of included studies track task accuracy, only 25% measure hallucinations, which is a vital metric for production-safe efficiency.</a:t>
            </a:r>
            <a:endParaRPr lang="en-IN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293852-8400-6A01-6CCE-2E355DFFE589}"/>
              </a:ext>
            </a:extLst>
          </p:cNvPr>
          <p:cNvSpPr/>
          <p:nvPr/>
        </p:nvSpPr>
        <p:spPr>
          <a:xfrm>
            <a:off x="38400" y="6597352"/>
            <a:ext cx="1005208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780597-437B-340E-FA3F-1F20F7441DAD}"/>
              </a:ext>
            </a:extLst>
          </p:cNvPr>
          <p:cNvSpPr txBox="1"/>
          <p:nvPr/>
        </p:nvSpPr>
        <p:spPr>
          <a:xfrm>
            <a:off x="7020272" y="0"/>
            <a:ext cx="22783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effectLst/>
                <a:highlight>
                  <a:srgbClr val="0168B5"/>
                </a:highlight>
              </a:rPr>
              <a:t>RTBI - 28 | 01 | 2026 - Student ID 256228</a:t>
            </a:r>
            <a:endParaRPr lang="en-IN" sz="800" dirty="0">
              <a:solidFill>
                <a:schemeClr val="bg1"/>
              </a:solidFill>
              <a:highlight>
                <a:srgbClr val="0168B5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14273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37F08-8D42-D3BF-73AE-2D8134318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B95AC-DA0A-1550-9702-6734B7313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solidFill>
                  <a:srgbClr val="0168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D239D-7C9C-2A7D-ED72-AE1D0FCD65B5}"/>
              </a:ext>
            </a:extLst>
          </p:cNvPr>
          <p:cNvSpPr txBox="1"/>
          <p:nvPr/>
        </p:nvSpPr>
        <p:spPr>
          <a:xfrm>
            <a:off x="600388" y="1326657"/>
            <a:ext cx="7128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Five response-driven strategies </a:t>
            </a:r>
            <a:r>
              <a:rPr lang="en-IN" dirty="0"/>
              <a:t>consistently reduce LLM costs, Smart interaction design is more scalable than larger models.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8C60FF-EBE5-C7EB-A000-F48F9D653D0D}"/>
              </a:ext>
            </a:extLst>
          </p:cNvPr>
          <p:cNvSpPr txBox="1"/>
          <p:nvPr/>
        </p:nvSpPr>
        <p:spPr>
          <a:xfrm>
            <a:off x="608076" y="2132856"/>
            <a:ext cx="718254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Efficiency vs. Quality: </a:t>
            </a:r>
            <a:r>
              <a:rPr lang="en-IN" dirty="0"/>
              <a:t>The evidence proves these are not opposing forces; thoughtful interaction design supports both simultaneously.</a:t>
            </a:r>
          </a:p>
          <a:p>
            <a:endParaRPr lang="en-IN" dirty="0"/>
          </a:p>
          <a:p>
            <a:r>
              <a:rPr lang="en-IN" b="1" dirty="0"/>
              <a:t>Key Challenge: </a:t>
            </a:r>
            <a:r>
              <a:rPr lang="en-IN" dirty="0"/>
              <a:t>The primary hurdle in modern AI is often not model capability, but how these systems are deployed efficiently.</a:t>
            </a:r>
          </a:p>
          <a:p>
            <a:endParaRPr lang="en-IN" dirty="0"/>
          </a:p>
          <a:p>
            <a:r>
              <a:rPr lang="en-IN" b="1" dirty="0"/>
              <a:t>Standardization: </a:t>
            </a:r>
            <a:r>
              <a:rPr lang="en-IN" dirty="0"/>
              <a:t>Bridging the 72% measurement gap through balanced evaluation is essential for the field's maturity.</a:t>
            </a:r>
          </a:p>
          <a:p>
            <a:endParaRPr lang="en-IN" dirty="0"/>
          </a:p>
          <a:p>
            <a:r>
              <a:rPr lang="en-IN" b="1" dirty="0"/>
              <a:t>Moving Forward</a:t>
            </a:r>
            <a:r>
              <a:rPr lang="en-IN" dirty="0"/>
              <a:t>: Future research must prioritize automated strategy selection and energy-centric optimization to ensure sustainable AI growth.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EDDC42-A9B7-E344-78DF-2D03107ACBCB}"/>
              </a:ext>
            </a:extLst>
          </p:cNvPr>
          <p:cNvSpPr txBox="1"/>
          <p:nvPr/>
        </p:nvSpPr>
        <p:spPr>
          <a:xfrm>
            <a:off x="7020272" y="0"/>
            <a:ext cx="22783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effectLst/>
                <a:highlight>
                  <a:srgbClr val="000080"/>
                </a:highlight>
              </a:rPr>
              <a:t>RTBI - 28 | 01 | 2026 - Student ID 256228</a:t>
            </a:r>
            <a:endParaRPr lang="en-IN" sz="800" dirty="0">
              <a:solidFill>
                <a:schemeClr val="bg1"/>
              </a:solidFill>
              <a:highlight>
                <a:srgbClr val="000080"/>
              </a:highligh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A0106B-E963-81E0-93D1-58DCFF9CA54A}"/>
              </a:ext>
            </a:extLst>
          </p:cNvPr>
          <p:cNvSpPr/>
          <p:nvPr/>
        </p:nvSpPr>
        <p:spPr>
          <a:xfrm>
            <a:off x="38400" y="6597352"/>
            <a:ext cx="1005208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CF9C36-ED13-55A1-54D0-D2C09F74D1D3}"/>
              </a:ext>
            </a:extLst>
          </p:cNvPr>
          <p:cNvSpPr txBox="1"/>
          <p:nvPr/>
        </p:nvSpPr>
        <p:spPr>
          <a:xfrm>
            <a:off x="7020272" y="0"/>
            <a:ext cx="22783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effectLst/>
                <a:highlight>
                  <a:srgbClr val="0168B5"/>
                </a:highlight>
              </a:rPr>
              <a:t>RTBI - 28 | 01 | 2026 - Student ID 256228</a:t>
            </a:r>
            <a:endParaRPr lang="en-IN" sz="800" dirty="0">
              <a:solidFill>
                <a:schemeClr val="bg1"/>
              </a:solidFill>
              <a:highlight>
                <a:srgbClr val="0168B5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9413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20D72-C974-3F27-19C7-016103EEB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366BA-90DB-42A0-2A9C-1E840028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883" y="803697"/>
            <a:ext cx="8154000" cy="561813"/>
          </a:xfrm>
        </p:spPr>
        <p:txBody>
          <a:bodyPr/>
          <a:lstStyle/>
          <a:p>
            <a:r>
              <a:rPr lang="en-IN" sz="2800" dirty="0">
                <a:solidFill>
                  <a:srgbClr val="0168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Research Directions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0A263B-028D-05C2-28E1-81C9CF2E7BEE}"/>
              </a:ext>
            </a:extLst>
          </p:cNvPr>
          <p:cNvSpPr txBox="1"/>
          <p:nvPr/>
        </p:nvSpPr>
        <p:spPr>
          <a:xfrm>
            <a:off x="323528" y="1484784"/>
            <a:ext cx="874236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Automated Strategy Selection: </a:t>
            </a:r>
            <a:r>
              <a:rPr lang="en-GB" dirty="0"/>
              <a:t>Build AI systems that automatically recommend which strategy (compression vs. routing vs. RAG) works best for each specific task.</a:t>
            </a:r>
          </a:p>
          <a:p>
            <a:r>
              <a:rPr lang="en-GB" dirty="0"/>
              <a:t> </a:t>
            </a:r>
          </a:p>
          <a:p>
            <a:r>
              <a:rPr lang="en-GB" b="1" dirty="0"/>
              <a:t>Explainable Efficiency: </a:t>
            </a:r>
            <a:r>
              <a:rPr lang="en-GB" dirty="0"/>
              <a:t>When compression removes tokens, which information was lost and why? Make efficiency gains interpretable. </a:t>
            </a:r>
          </a:p>
          <a:p>
            <a:endParaRPr lang="en-GB" dirty="0"/>
          </a:p>
          <a:p>
            <a:r>
              <a:rPr lang="en-GB" b="1" dirty="0"/>
              <a:t>Cross Model Generalization: </a:t>
            </a:r>
            <a:r>
              <a:rPr lang="en-GB" dirty="0"/>
              <a:t>Do strategies trained on GPT 4 transfer to Llama? Or Claude? Study generalization across model families. </a:t>
            </a:r>
          </a:p>
          <a:p>
            <a:endParaRPr lang="en-GB" dirty="0"/>
          </a:p>
          <a:p>
            <a:r>
              <a:rPr lang="en-GB" b="1" dirty="0"/>
              <a:t>Energy First Optimization Framework: </a:t>
            </a:r>
            <a:r>
              <a:rPr lang="en-GB" dirty="0"/>
              <a:t>Instead of minimizing tokens, directly minimize energy consumption. Different approach, different optimizations. </a:t>
            </a:r>
          </a:p>
          <a:p>
            <a:endParaRPr lang="en-GB" dirty="0"/>
          </a:p>
          <a:p>
            <a:r>
              <a:rPr lang="en-GB" b="1" dirty="0"/>
              <a:t>Specialized Domain Studies: </a:t>
            </a:r>
            <a:r>
              <a:rPr lang="en-GB" dirty="0"/>
              <a:t>Develop task specific efficiency strategies for critical domains (medical diagnosis, legal analysis, financial decisions) where quality cannot be compromised. 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DD11B5-DA3C-3BF7-D59F-DBDE7E54FFBA}"/>
              </a:ext>
            </a:extLst>
          </p:cNvPr>
          <p:cNvSpPr txBox="1"/>
          <p:nvPr/>
        </p:nvSpPr>
        <p:spPr>
          <a:xfrm>
            <a:off x="7020272" y="0"/>
            <a:ext cx="22783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effectLst/>
                <a:highlight>
                  <a:srgbClr val="000080"/>
                </a:highlight>
              </a:rPr>
              <a:t>RTBI - 28 | 01 | 2026 - Student ID 256228</a:t>
            </a:r>
            <a:endParaRPr lang="en-IN" sz="800" dirty="0">
              <a:solidFill>
                <a:schemeClr val="bg1"/>
              </a:solidFill>
              <a:highlight>
                <a:srgbClr val="000080"/>
              </a:highligh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43C844-B56B-DC6A-2A95-88369CDE98BD}"/>
              </a:ext>
            </a:extLst>
          </p:cNvPr>
          <p:cNvSpPr/>
          <p:nvPr/>
        </p:nvSpPr>
        <p:spPr>
          <a:xfrm>
            <a:off x="38400" y="6597352"/>
            <a:ext cx="1005208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3899B0-10FF-AA4E-A68F-EE48ED82B194}"/>
              </a:ext>
            </a:extLst>
          </p:cNvPr>
          <p:cNvSpPr txBox="1"/>
          <p:nvPr/>
        </p:nvSpPr>
        <p:spPr>
          <a:xfrm>
            <a:off x="7020272" y="0"/>
            <a:ext cx="22783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effectLst/>
                <a:highlight>
                  <a:srgbClr val="0168B5"/>
                </a:highlight>
              </a:rPr>
              <a:t>RTBI - 28 | 01 | 2026 - Student ID 256228</a:t>
            </a:r>
            <a:endParaRPr lang="en-IN" sz="800" dirty="0">
              <a:solidFill>
                <a:schemeClr val="bg1"/>
              </a:solidFill>
              <a:highlight>
                <a:srgbClr val="0168B5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23786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8ED42-4686-80FE-8C76-E1182B904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1FC07-7301-2176-75E8-032666268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1800" y="2924944"/>
            <a:ext cx="8154000" cy="561813"/>
          </a:xfrm>
        </p:spPr>
        <p:txBody>
          <a:bodyPr/>
          <a:lstStyle/>
          <a:p>
            <a:r>
              <a:rPr lang="en-IN" dirty="0">
                <a:solidFill>
                  <a:srgbClr val="0168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Thankyou, Any questions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393453-15B8-5A8A-910E-AD80D1C1416D}"/>
              </a:ext>
            </a:extLst>
          </p:cNvPr>
          <p:cNvSpPr txBox="1"/>
          <p:nvPr/>
        </p:nvSpPr>
        <p:spPr>
          <a:xfrm>
            <a:off x="7020272" y="0"/>
            <a:ext cx="22783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effectLst/>
                <a:highlight>
                  <a:srgbClr val="0168B5"/>
                </a:highlight>
              </a:rPr>
              <a:t>RTBI - 28 | 01 | 2026 - Student ID 256228</a:t>
            </a:r>
            <a:endParaRPr lang="en-IN" sz="800" dirty="0">
              <a:solidFill>
                <a:schemeClr val="bg1"/>
              </a:solidFill>
              <a:highlight>
                <a:srgbClr val="0168B5"/>
              </a:highligh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635B2C-02DF-BDC2-428B-FCE5BFEA3F80}"/>
              </a:ext>
            </a:extLst>
          </p:cNvPr>
          <p:cNvSpPr/>
          <p:nvPr/>
        </p:nvSpPr>
        <p:spPr>
          <a:xfrm>
            <a:off x="38400" y="6597352"/>
            <a:ext cx="1005208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825405"/>
      </p:ext>
    </p:extLst>
  </p:cSld>
  <p:clrMapOvr>
    <a:masterClrMapping/>
  </p:clrMapOvr>
</p:sld>
</file>

<file path=ppt/theme/theme1.xml><?xml version="1.0" encoding="utf-8"?>
<a:theme xmlns:a="http://schemas.openxmlformats.org/drawingml/2006/main" name="Vorlage-Vorlesung">
  <a:themeElements>
    <a:clrScheme name="Benutzerdefinier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168B5"/>
      </a:accent1>
      <a:accent2>
        <a:srgbClr val="990033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Elektra Text Pro"/>
        <a:ea typeface=""/>
        <a:cs typeface=""/>
      </a:majorFont>
      <a:minorFont>
        <a:latin typeface="Arial"/>
        <a:ea typeface="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 Example (not mandatory) (2)</Template>
  <TotalTime>539</TotalTime>
  <Words>1370</Words>
  <Application>Microsoft Office PowerPoint</Application>
  <PresentationFormat>On-screen Show (4:3)</PresentationFormat>
  <Paragraphs>147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Calibri</vt:lpstr>
      <vt:lpstr>Courier New</vt:lpstr>
      <vt:lpstr>Elektra Text Pro</vt:lpstr>
      <vt:lpstr>Frutiger Linotype</vt:lpstr>
      <vt:lpstr>Lucida Sans Unicode</vt:lpstr>
      <vt:lpstr>Symbol</vt:lpstr>
      <vt:lpstr>Times New Roman</vt:lpstr>
      <vt:lpstr>Wingdings</vt:lpstr>
      <vt:lpstr>Vorlage-Vorlesung</vt:lpstr>
      <vt:lpstr>INVESTIGATING RESPONSE-DRIVEN PROMPTING METHODS FOR LLM EFFICIENCY</vt:lpstr>
      <vt:lpstr>The Motivation: Why Efficiency Matters</vt:lpstr>
      <vt:lpstr>PowerPoint Presentation</vt:lpstr>
      <vt:lpstr>PRISMA-Compliant Systematic Review</vt:lpstr>
      <vt:lpstr>PowerPoint Presentation</vt:lpstr>
      <vt:lpstr>Response-Driven Prompting Strategies</vt:lpstr>
      <vt:lpstr>Strategic Recommendations by Task Type</vt:lpstr>
      <vt:lpstr>PowerPoint Presentation</vt:lpstr>
      <vt:lpstr>PowerPoint Presentation</vt:lpstr>
      <vt:lpstr>Implementation Roadmap</vt:lpstr>
      <vt:lpstr>Practical Implications - Real-World Economic Impact </vt:lpstr>
      <vt:lpstr>Key Research Gap</vt:lpstr>
      <vt:lpstr>Conclusion</vt:lpstr>
      <vt:lpstr>Future Research Directions</vt:lpstr>
      <vt:lpstr>Thankyou, Any 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yashashwini awate</dc:creator>
  <cp:lastModifiedBy>yashashwini awate</cp:lastModifiedBy>
  <cp:revision>8</cp:revision>
  <dcterms:created xsi:type="dcterms:W3CDTF">2026-01-25T00:23:00Z</dcterms:created>
  <dcterms:modified xsi:type="dcterms:W3CDTF">2026-01-28T17:16:18Z</dcterms:modified>
</cp:coreProperties>
</file>