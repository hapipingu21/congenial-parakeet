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8" r:id="rId6"/>
    <p:sldId id="278" r:id="rId7"/>
    <p:sldId id="272" r:id="rId8"/>
    <p:sldId id="273" r:id="rId9"/>
    <p:sldId id="274" r:id="rId10"/>
    <p:sldId id="275" r:id="rId11"/>
    <p:sldId id="276" r:id="rId12"/>
    <p:sldId id="277" r:id="rId13"/>
    <p:sldId id="279" r:id="rId14"/>
    <p:sldId id="259" r:id="rId15"/>
    <p:sldId id="265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11/13/2025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11/13/2025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0968" y="1988840"/>
            <a:ext cx="8735325" cy="2000251"/>
          </a:xfrm>
        </p:spPr>
        <p:txBody>
          <a:bodyPr>
            <a:normAutofit fontScale="90000"/>
          </a:bodyPr>
          <a:lstStyle/>
          <a:p>
            <a:r>
              <a:rPr lang="en-GB" b="1" i="1" dirty="0">
                <a:latin typeface="Aptos Narrow" panose="020B0004020202020204" pitchFamily="34" charset="0"/>
              </a:rPr>
              <a:t>LLM-grounded Diffusion: Prompt-induced memorization in Stable Diffusion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57908" y="4083174"/>
            <a:ext cx="8735325" cy="380752"/>
          </a:xfrm>
        </p:spPr>
        <p:txBody>
          <a:bodyPr>
            <a:normAutofit/>
          </a:bodyPr>
          <a:lstStyle/>
          <a:p>
            <a:r>
              <a:rPr lang="en-IN" sz="1800" dirty="0"/>
              <a:t>Literature survey</a:t>
            </a:r>
            <a:endParaRPr lang="en-US" sz="1800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62F1CFA2-C8E7-0821-ADFF-44CA69314D93}"/>
              </a:ext>
            </a:extLst>
          </p:cNvPr>
          <p:cNvSpPr txBox="1">
            <a:spLocks/>
          </p:cNvSpPr>
          <p:nvPr/>
        </p:nvSpPr>
        <p:spPr>
          <a:xfrm>
            <a:off x="1625176" y="5157192"/>
            <a:ext cx="8735325" cy="38075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Author - Yashashwini S Awate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B5DC99-E596-7196-EE26-9946F5A0010B}"/>
              </a:ext>
            </a:extLst>
          </p:cNvPr>
          <p:cNvSpPr txBox="1"/>
          <p:nvPr/>
        </p:nvSpPr>
        <p:spPr>
          <a:xfrm>
            <a:off x="1269876" y="1700808"/>
            <a:ext cx="103691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Memorization in Generative Models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Both diffusion models and LLMs are known to </a:t>
            </a:r>
            <a:r>
              <a:rPr lang="en-GB" i="1" dirty="0"/>
              <a:t>memorize</a:t>
            </a:r>
            <a:r>
              <a:rPr lang="en-GB" dirty="0"/>
              <a:t> training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Memorization means they can reproduce images/texts very close to what they saw during training.</a:t>
            </a:r>
          </a:p>
          <a:p>
            <a:pPr marL="457200" lvl="1"/>
            <a:endParaRPr lang="en-GB" dirty="0"/>
          </a:p>
          <a:p>
            <a:pPr marL="457200" lvl="1"/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Prompt-Induced Recall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Certain wordings in prompts can trigger near-exact reproductions of training images.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Example: “A photo of a woman wearing a red hat in front of the Eiffel Tower” may reproduce a copyrighted Flickr image.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C2C55-BCD4-AADD-7DCE-1AFE76342095}"/>
              </a:ext>
            </a:extLst>
          </p:cNvPr>
          <p:cNvSpPr txBox="1"/>
          <p:nvPr/>
        </p:nvSpPr>
        <p:spPr>
          <a:xfrm>
            <a:off x="3574132" y="476672"/>
            <a:ext cx="66247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Key Research Areas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78A2C6-688D-580F-1D09-D11AA3F35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493446"/>
              </p:ext>
            </p:extLst>
          </p:nvPr>
        </p:nvGraphicFramePr>
        <p:xfrm>
          <a:off x="1269876" y="1052736"/>
          <a:ext cx="10360024" cy="3749040"/>
        </p:xfrm>
        <a:graphic>
          <a:graphicData uri="http://schemas.openxmlformats.org/drawingml/2006/table">
            <a:tbl>
              <a:tblPr/>
              <a:tblGrid>
                <a:gridCol w="5180012">
                  <a:extLst>
                    <a:ext uri="{9D8B030D-6E8A-4147-A177-3AD203B41FA5}">
                      <a16:colId xmlns:a16="http://schemas.microsoft.com/office/drawing/2014/main" val="3833791612"/>
                    </a:ext>
                  </a:extLst>
                </a:gridCol>
                <a:gridCol w="5180012">
                  <a:extLst>
                    <a:ext uri="{9D8B030D-6E8A-4147-A177-3AD203B41FA5}">
                      <a16:colId xmlns:a16="http://schemas.microsoft.com/office/drawing/2014/main" val="12058059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571959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Memorization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Stable Diffusion stores patterns from frequent or famous images.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2258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Prompt Influence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Specific phrasing can trigger hidden memories.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04828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LLM Role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Enhances semantic understanding of prompts.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5053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Goal of Study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Understand </a:t>
                      </a:r>
                      <a:r>
                        <a:rPr lang="en-GB" sz="2400" i="1" dirty="0"/>
                        <a:t>why</a:t>
                      </a:r>
                      <a:r>
                        <a:rPr lang="en-GB" sz="2400" dirty="0"/>
                        <a:t> recall happens and </a:t>
                      </a:r>
                      <a:r>
                        <a:rPr lang="en-GB" sz="2400" i="1" dirty="0"/>
                        <a:t>how</a:t>
                      </a:r>
                      <a:r>
                        <a:rPr lang="en-GB" sz="2400" dirty="0"/>
                        <a:t> prompts induce it.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345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35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2C70D-586F-2924-F938-268DD640F8BC}"/>
              </a:ext>
            </a:extLst>
          </p:cNvPr>
          <p:cNvSpPr txBox="1"/>
          <p:nvPr/>
        </p:nvSpPr>
        <p:spPr>
          <a:xfrm>
            <a:off x="2061964" y="2708920"/>
            <a:ext cx="81071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3600" b="1" dirty="0"/>
              <a:t>Risks</a:t>
            </a:r>
            <a:r>
              <a:rPr lang="en-GB" dirty="0"/>
              <a:t>: copyright infringement, privacy leaks, data security.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3600" b="1" dirty="0"/>
              <a:t>Research challenge</a:t>
            </a:r>
            <a:r>
              <a:rPr lang="en-GB" dirty="0"/>
              <a:t>: understanding </a:t>
            </a:r>
            <a:r>
              <a:rPr lang="en-GB" i="1" dirty="0"/>
              <a:t>how prompts access stored visual memory.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FAD60-154C-1866-EBA8-CE5495928B35}"/>
              </a:ext>
            </a:extLst>
          </p:cNvPr>
          <p:cNvSpPr txBox="1"/>
          <p:nvPr/>
        </p:nvSpPr>
        <p:spPr>
          <a:xfrm>
            <a:off x="4654252" y="1196752"/>
            <a:ext cx="61094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Why It Matters</a:t>
            </a:r>
            <a:endParaRPr lang="en-GB" sz="4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89F1CB-95FE-42D4-BB06-3608E0EC7F43}"/>
              </a:ext>
            </a:extLst>
          </p:cNvPr>
          <p:cNvSpPr txBox="1"/>
          <p:nvPr/>
        </p:nvSpPr>
        <p:spPr>
          <a:xfrm>
            <a:off x="3790156" y="620688"/>
            <a:ext cx="6109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Prompt-Induced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3CEF8-DD56-08C4-9547-73664913FA80}"/>
              </a:ext>
            </a:extLst>
          </p:cNvPr>
          <p:cNvSpPr txBox="1"/>
          <p:nvPr/>
        </p:nvSpPr>
        <p:spPr>
          <a:xfrm>
            <a:off x="1413892" y="1700808"/>
            <a:ext cx="102971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Prompt-induced recall refers to the phenomenon where specific </a:t>
            </a:r>
            <a:r>
              <a:rPr lang="en-GB" b="1" dirty="0"/>
              <a:t>text prompts</a:t>
            </a:r>
            <a:r>
              <a:rPr lang="en-GB" dirty="0"/>
              <a:t> cause a </a:t>
            </a:r>
            <a:r>
              <a:rPr lang="en-GB" b="1" dirty="0"/>
              <a:t>text-to-image diffusion model</a:t>
            </a:r>
            <a:r>
              <a:rPr lang="en-GB" dirty="0"/>
              <a:t> (like Stable Diffusion) to reproduce </a:t>
            </a:r>
            <a:r>
              <a:rPr lang="en-GB" b="1" dirty="0"/>
              <a:t>images or elements from its training data</a:t>
            </a:r>
            <a:r>
              <a:rPr lang="en-GB" dirty="0"/>
              <a:t>—sometimes nearly identical to original samples.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5240A-EF33-88C7-AACB-F33EC7695870}"/>
              </a:ext>
            </a:extLst>
          </p:cNvPr>
          <p:cNvSpPr txBox="1"/>
          <p:nvPr/>
        </p:nvSpPr>
        <p:spPr>
          <a:xfrm>
            <a:off x="1382796" y="3704257"/>
            <a:ext cx="1018422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A prompt like</a:t>
            </a:r>
          </a:p>
          <a:p>
            <a:r>
              <a:rPr lang="en-GB" dirty="0"/>
              <a:t>“a painting of a girl with a pearl earring, by Vermeer”</a:t>
            </a:r>
            <a:br>
              <a:rPr lang="en-GB" dirty="0"/>
            </a:br>
            <a:r>
              <a:rPr lang="en-GB" dirty="0"/>
              <a:t>often produces something visually close to the original painting — not because the model “understands” Vermeer, but because it </a:t>
            </a:r>
            <a:r>
              <a:rPr lang="en-GB" b="1" dirty="0"/>
              <a:t>memorized</a:t>
            </a:r>
            <a:r>
              <a:rPr lang="en-GB" dirty="0"/>
              <a:t> parts of it from training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02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17A5A70D-9D02-B0E5-1364-A681B1DA903A}"/>
              </a:ext>
            </a:extLst>
          </p:cNvPr>
          <p:cNvSpPr txBox="1"/>
          <p:nvPr/>
        </p:nvSpPr>
        <p:spPr>
          <a:xfrm>
            <a:off x="2277988" y="509771"/>
            <a:ext cx="8659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Goal: visually compare how wording changes affect the output.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4E1E4-F6A6-1D67-9A90-C916B7DBC8F9}"/>
              </a:ext>
            </a:extLst>
          </p:cNvPr>
          <p:cNvSpPr txBox="1"/>
          <p:nvPr/>
        </p:nvSpPr>
        <p:spPr>
          <a:xfrm>
            <a:off x="1125860" y="5733256"/>
            <a:ext cx="1015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Notice if the “a fantasy painting of a dog wearing a red bowtie, by </a:t>
            </a:r>
            <a:r>
              <a:rPr lang="en-GB" sz="2000" dirty="0" err="1"/>
              <a:t>greg</a:t>
            </a:r>
            <a:r>
              <a:rPr lang="en-GB" sz="2000" dirty="0"/>
              <a:t> </a:t>
            </a:r>
            <a:r>
              <a:rPr lang="en-GB" sz="2000" dirty="0" err="1"/>
              <a:t>rutkowski</a:t>
            </a:r>
            <a:r>
              <a:rPr lang="en-GB" sz="2000" dirty="0"/>
              <a:t>” prompt gives a stylistically sharper or familiar-looking result — a tiny glimpse of prompt-induced recall</a:t>
            </a:r>
            <a:endParaRPr lang="en-IN" sz="2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239FE95-C016-312E-49EF-2F19CD8BD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668"/>
            <a:ext cx="12188825" cy="421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8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BDA194-B698-89AF-B6C1-12CC214B113B}"/>
              </a:ext>
            </a:extLst>
          </p:cNvPr>
          <p:cNvSpPr txBox="1"/>
          <p:nvPr/>
        </p:nvSpPr>
        <p:spPr>
          <a:xfrm>
            <a:off x="1269876" y="1351508"/>
            <a:ext cx="100091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B. </a:t>
            </a:r>
            <a:r>
              <a:rPr lang="en-GB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Somepalli</a:t>
            </a:r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et al. (2023) – “Understanding Unintended Memorization in Text-to-Image Diffusion Models”</a:t>
            </a:r>
          </a:p>
          <a:p>
            <a:pPr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Explored </a:t>
            </a:r>
            <a:r>
              <a:rPr lang="en-GB" b="1" dirty="0"/>
              <a:t>how prompts</a:t>
            </a:r>
            <a:r>
              <a:rPr lang="en-GB" dirty="0"/>
              <a:t> cause models to recall specific training samples.</a:t>
            </a:r>
          </a:p>
          <a:p>
            <a:endParaRPr lang="en-GB" b="1" dirty="0"/>
          </a:p>
          <a:p>
            <a:r>
              <a:rPr lang="en-GB" b="1" dirty="0"/>
              <a:t>Key Insight: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Prompts containing </a:t>
            </a:r>
            <a:r>
              <a:rPr lang="en-GB" b="1" dirty="0"/>
              <a:t>rare artist names, specific object combinations, or detailed captions</a:t>
            </a:r>
            <a:r>
              <a:rPr lang="en-GB" dirty="0"/>
              <a:t> can trigger memorized images.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Changing the wording slightly often breaks the recall link.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56690-C7F1-DB7F-298C-740444A4AE39}"/>
              </a:ext>
            </a:extLst>
          </p:cNvPr>
          <p:cNvSpPr txBox="1"/>
          <p:nvPr/>
        </p:nvSpPr>
        <p:spPr>
          <a:xfrm>
            <a:off x="2566019" y="404664"/>
            <a:ext cx="8352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Relevant Research and Findings</a:t>
            </a:r>
          </a:p>
        </p:txBody>
      </p:sp>
    </p:spTree>
    <p:extLst>
      <p:ext uri="{BB962C8B-B14F-4D97-AF65-F5344CB8AC3E}">
        <p14:creationId xmlns:p14="http://schemas.microsoft.com/office/powerpoint/2010/main" val="72219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433C6C-F5A4-A33B-B493-8108227BBB94}"/>
              </a:ext>
            </a:extLst>
          </p:cNvPr>
          <p:cNvSpPr txBox="1"/>
          <p:nvPr/>
        </p:nvSpPr>
        <p:spPr>
          <a:xfrm>
            <a:off x="1125860" y="404664"/>
            <a:ext cx="102971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D. Lian et al. (2023) – “LLM-grounded Diffusion: Enhancing Prompt Understanding of Text-to-Image Diffusion Models with Large Language Models”</a:t>
            </a:r>
          </a:p>
          <a:p>
            <a:pPr>
              <a:buNone/>
            </a:pPr>
            <a:endParaRPr lang="en-GB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84F8F-D8E5-28A7-AA96-758ACB84262B}"/>
              </a:ext>
            </a:extLst>
          </p:cNvPr>
          <p:cNvSpPr txBox="1"/>
          <p:nvPr/>
        </p:nvSpPr>
        <p:spPr>
          <a:xfrm>
            <a:off x="1125860" y="1484784"/>
            <a:ext cx="104411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Proposed combining Large Language Models (LLMs) with diffusion models to enhance prompt understanding.</a:t>
            </a:r>
          </a:p>
          <a:p>
            <a:endParaRPr lang="en-GB" dirty="0"/>
          </a:p>
          <a:p>
            <a:r>
              <a:rPr lang="en-GB" dirty="0"/>
              <a:t>The idea: LLMs (like GPT-3 or T5) expand or clarify the user’s prompt before passing it to the diffusion model.</a:t>
            </a:r>
          </a:p>
          <a:p>
            <a:endParaRPr lang="en-GB" dirty="0"/>
          </a:p>
          <a:p>
            <a:r>
              <a:rPr lang="en-GB" dirty="0" err="1"/>
              <a:t>Example:User</a:t>
            </a:r>
            <a:r>
              <a:rPr lang="en-GB" dirty="0"/>
              <a:t> prompt → “a cozy mountain </a:t>
            </a:r>
            <a:r>
              <a:rPr lang="en-GB" dirty="0" err="1"/>
              <a:t>cabin”LLM</a:t>
            </a:r>
            <a:r>
              <a:rPr lang="en-GB" dirty="0"/>
              <a:t>-expanded prompt → “a cozy wooden cabin surrounded by pine trees, soft snow, and sunrise light, in cinematic detail”</a:t>
            </a:r>
          </a:p>
          <a:p>
            <a:endParaRPr lang="en-GB" dirty="0"/>
          </a:p>
          <a:p>
            <a:r>
              <a:rPr lang="en-GB" dirty="0"/>
              <a:t>This improves semantic grounding, reduces ambiguous generations, and helps study which details lead to </a:t>
            </a:r>
            <a:r>
              <a:rPr lang="en-GB" dirty="0" err="1"/>
              <a:t>recall.Importantly</a:t>
            </a:r>
            <a:r>
              <a:rPr lang="en-GB" dirty="0"/>
              <a:t>, it helps us </a:t>
            </a:r>
            <a:r>
              <a:rPr lang="en-GB" dirty="0" err="1"/>
              <a:t>analyze</a:t>
            </a:r>
            <a:r>
              <a:rPr lang="en-GB" dirty="0"/>
              <a:t> how richer textual cues influence memorized outputs.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016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F5BC4E-BDA6-31CE-E5C1-0415690A2DC2}"/>
              </a:ext>
            </a:extLst>
          </p:cNvPr>
          <p:cNvSpPr txBox="1"/>
          <p:nvPr/>
        </p:nvSpPr>
        <p:spPr>
          <a:xfrm>
            <a:off x="1485900" y="908720"/>
            <a:ext cx="9937104" cy="381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Carlini et al. (2023) – "Extracting Training Data from Diffusion Models"</a:t>
            </a:r>
          </a:p>
          <a:p>
            <a:endParaRPr lang="en-GB" dirty="0"/>
          </a:p>
          <a:p>
            <a:r>
              <a:rPr lang="en-GB" dirty="0"/>
              <a:t>Researchers showed that </a:t>
            </a:r>
            <a:r>
              <a:rPr lang="en-GB" b="1" dirty="0"/>
              <a:t>Stable Diffusion</a:t>
            </a:r>
            <a:r>
              <a:rPr lang="en-GB" dirty="0"/>
              <a:t> can reproduce </a:t>
            </a:r>
            <a:r>
              <a:rPr lang="en-GB" i="1" dirty="0"/>
              <a:t>exact training images</a:t>
            </a:r>
            <a:r>
              <a:rPr lang="en-GB" dirty="0"/>
              <a:t> if given specific prompts.</a:t>
            </a:r>
          </a:p>
          <a:p>
            <a:endParaRPr lang="en-GB" dirty="0"/>
          </a:p>
          <a:p>
            <a:r>
              <a:rPr lang="en-GB" dirty="0"/>
              <a:t>They tested thousands of prompts and found that about </a:t>
            </a:r>
            <a:r>
              <a:rPr lang="en-GB" b="1" dirty="0"/>
              <a:t>1%</a:t>
            </a:r>
            <a:r>
              <a:rPr lang="en-GB" dirty="0"/>
              <a:t> of generated images were near duplicates of training samples.</a:t>
            </a:r>
          </a:p>
          <a:p>
            <a:r>
              <a:rPr lang="en-GB" dirty="0"/>
              <a:t>Key insight: memorization depends on </a:t>
            </a:r>
            <a:r>
              <a:rPr lang="en-GB" b="1" dirty="0"/>
              <a:t>repetition frequency</a:t>
            </a:r>
            <a:r>
              <a:rPr lang="en-GB" dirty="0"/>
              <a:t> (how often a sample appears in training) and </a:t>
            </a:r>
            <a:r>
              <a:rPr lang="en-GB" b="1" dirty="0"/>
              <a:t>prompt specificity</a:t>
            </a:r>
            <a:r>
              <a:rPr lang="en-GB" dirty="0"/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30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201459-411D-F6B0-265A-926B989FDAB5}"/>
              </a:ext>
            </a:extLst>
          </p:cNvPr>
          <p:cNvSpPr txBox="1"/>
          <p:nvPr/>
        </p:nvSpPr>
        <p:spPr>
          <a:xfrm>
            <a:off x="1917948" y="2636912"/>
            <a:ext cx="11593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[Text Prompt] → [Text Encoder (CLIP/T5)] → [</a:t>
            </a:r>
            <a:r>
              <a:rPr lang="en-IN" b="1" i="1" dirty="0"/>
              <a:t>Latent Embedding</a:t>
            </a:r>
            <a:r>
              <a:rPr lang="en-IN" b="1" dirty="0"/>
              <a:t>]</a:t>
            </a:r>
          </a:p>
          <a:p>
            <a:r>
              <a:rPr lang="en-IN" b="1" dirty="0"/>
              <a:t>        ↓                                                                                 ↑</a:t>
            </a:r>
          </a:p>
          <a:p>
            <a:r>
              <a:rPr lang="en-IN" b="1" dirty="0"/>
              <a:t>      (LLM Expansion - adds context)                               |</a:t>
            </a:r>
          </a:p>
          <a:p>
            <a:r>
              <a:rPr lang="en-IN" b="1" dirty="0"/>
              <a:t>        ↓                                                                                  |</a:t>
            </a:r>
          </a:p>
          <a:p>
            <a:r>
              <a:rPr lang="en-IN" b="1" dirty="0"/>
              <a:t>[Diffusion Process] → [</a:t>
            </a:r>
            <a:r>
              <a:rPr lang="en-IN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Generated Image</a:t>
            </a:r>
            <a:r>
              <a:rPr lang="en-IN" b="1" dirty="0"/>
              <a:t>] ← [Training Data Influence]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E103A-BE52-67D6-B925-C08C46DFFCAE}"/>
              </a:ext>
            </a:extLst>
          </p:cNvPr>
          <p:cNvSpPr txBox="1"/>
          <p:nvPr/>
        </p:nvSpPr>
        <p:spPr>
          <a:xfrm>
            <a:off x="4510236" y="908720"/>
            <a:ext cx="6109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Visual Concept</a:t>
            </a:r>
          </a:p>
        </p:txBody>
      </p:sp>
    </p:spTree>
    <p:extLst>
      <p:ext uri="{BB962C8B-B14F-4D97-AF65-F5344CB8AC3E}">
        <p14:creationId xmlns:p14="http://schemas.microsoft.com/office/powerpoint/2010/main" val="50996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934172" y="764704"/>
            <a:ext cx="7069519" cy="1220933"/>
          </a:xfrm>
        </p:spPr>
        <p:txBody>
          <a:bodyPr/>
          <a:lstStyle/>
          <a:p>
            <a:r>
              <a:rPr lang="en-IN" b="1" dirty="0"/>
              <a:t>Comparative Insights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2AFC75-CDA6-5BEF-2D54-46CC00E91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776913"/>
              </p:ext>
            </p:extLst>
          </p:nvPr>
        </p:nvGraphicFramePr>
        <p:xfrm>
          <a:off x="981844" y="1412776"/>
          <a:ext cx="10729191" cy="45884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76397">
                  <a:extLst>
                    <a:ext uri="{9D8B030D-6E8A-4147-A177-3AD203B41FA5}">
                      <a16:colId xmlns:a16="http://schemas.microsoft.com/office/drawing/2014/main" val="2769732223"/>
                    </a:ext>
                  </a:extLst>
                </a:gridCol>
                <a:gridCol w="3576397">
                  <a:extLst>
                    <a:ext uri="{9D8B030D-6E8A-4147-A177-3AD203B41FA5}">
                      <a16:colId xmlns:a16="http://schemas.microsoft.com/office/drawing/2014/main" val="2668871377"/>
                    </a:ext>
                  </a:extLst>
                </a:gridCol>
                <a:gridCol w="3576397">
                  <a:extLst>
                    <a:ext uri="{9D8B030D-6E8A-4147-A177-3AD203B41FA5}">
                      <a16:colId xmlns:a16="http://schemas.microsoft.com/office/drawing/2014/main" val="1649287815"/>
                    </a:ext>
                  </a:extLst>
                </a:gridCol>
              </a:tblGrid>
              <a:tr h="354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Aspect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What We Know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Key Source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406225"/>
                  </a:ext>
                </a:extLst>
              </a:tr>
              <a:tr h="92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Why memorization happens</a:t>
                      </a:r>
                      <a:endParaRPr lang="en-IN" sz="1900" dirty="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dirty="0"/>
                        <a:t>Rare, overrepresented, or unique data cause memorization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Gu et al. (2023)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448695"/>
                  </a:ext>
                </a:extLst>
              </a:tr>
              <a:tr h="63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When it appears</a:t>
                      </a:r>
                      <a:endParaRPr lang="en-IN" sz="190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Long training, small datasets, specific prompts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Somepalli et al. (2023)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575743"/>
                  </a:ext>
                </a:extLst>
              </a:tr>
              <a:tr h="63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How to detect it</a:t>
                      </a:r>
                      <a:endParaRPr lang="en-IN" sz="190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Image-text similarity metrics, benchmarks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MemBench (2024)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03083"/>
                  </a:ext>
                </a:extLst>
              </a:tr>
              <a:tr h="354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Where it lives</a:t>
                      </a:r>
                      <a:endParaRPr lang="en-IN" sz="190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Localized neurons in UNet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Finding NeMo (2024)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176833"/>
                  </a:ext>
                </a:extLst>
              </a:tr>
              <a:tr h="63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How to prevent it</a:t>
                      </a:r>
                      <a:endParaRPr lang="en-IN" sz="1900" dirty="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Regularization, data filtering, unlearning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/>
                        <a:t>Chen et al. (2024)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460160"/>
                  </a:ext>
                </a:extLst>
              </a:tr>
              <a:tr h="920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How LLMs help</a:t>
                      </a:r>
                      <a:endParaRPr lang="en-IN" sz="1900" dirty="0"/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Better prompt interpretation → less recall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Lian et al. (2023)</a:t>
                      </a:r>
                    </a:p>
                  </a:txBody>
                  <a:tcPr marL="70833" marR="70833" marT="35416" marB="354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4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3052186-A853-F517-CCEC-63644E7E5432}"/>
              </a:ext>
            </a:extLst>
          </p:cNvPr>
          <p:cNvSpPr txBox="1"/>
          <p:nvPr/>
        </p:nvSpPr>
        <p:spPr>
          <a:xfrm>
            <a:off x="1485900" y="1052736"/>
            <a:ext cx="97930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Current Gaps in Research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dirty="0"/>
              <a:t>Despite strong progress, there are still open questions: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Prompt Sensitivity:</a:t>
            </a:r>
            <a:r>
              <a:rPr lang="en-GB" dirty="0"/>
              <a:t> Why do certain words or styles trigger recall?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Semantic Memory:</a:t>
            </a:r>
            <a:r>
              <a:rPr lang="en-GB" dirty="0"/>
              <a:t> Do models memorize meanings or visual features?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Cross-model </a:t>
            </a:r>
            <a:r>
              <a:rPr lang="en-GB" b="1" dirty="0" err="1"/>
              <a:t>behavior</a:t>
            </a:r>
            <a:r>
              <a:rPr lang="en-GB" b="1" dirty="0"/>
              <a:t>:</a:t>
            </a:r>
            <a:r>
              <a:rPr lang="en-GB" dirty="0"/>
              <a:t> Does memorization differ between SD v1.5, v2.1, DALL·E, and Imagen?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Impact of LLM grounding:</a:t>
            </a:r>
            <a:r>
              <a:rPr lang="en-GB" dirty="0"/>
              <a:t> Does improved prompt structure reduce memorization or just change its form?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Ethical dimension:</a:t>
            </a:r>
            <a:r>
              <a:rPr lang="en-GB" dirty="0"/>
              <a:t> How do we measure acceptable “creative memory” vs unethical recall?</a:t>
            </a: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1878</TotalTime>
  <Words>807</Words>
  <Application>Microsoft Office PowerPoint</Application>
  <PresentationFormat>Custom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Display</vt:lpstr>
      <vt:lpstr>Aptos Narrow</vt:lpstr>
      <vt:lpstr>Arial</vt:lpstr>
      <vt:lpstr>Calibri</vt:lpstr>
      <vt:lpstr>Tech 16x9</vt:lpstr>
      <vt:lpstr>LLM-grounded Diffusion: Prompt-induced memorization in Stable Diffusion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yashashwini awate</dc:creator>
  <cp:lastModifiedBy>yashashwini awate</cp:lastModifiedBy>
  <cp:revision>2</cp:revision>
  <dcterms:created xsi:type="dcterms:W3CDTF">2025-11-13T13:27:26Z</dcterms:created>
  <dcterms:modified xsi:type="dcterms:W3CDTF">2025-11-14T20:46:03Z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